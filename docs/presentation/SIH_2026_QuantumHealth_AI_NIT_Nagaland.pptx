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1188720"/>
            <a:ext cx="5212080" cy="4663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Problem Statement ID : </a:t>
            </a:r>
            <a:r>
              <a:rPr sz="1300">
                <a:solidFill>
                  <a:srgbClr val="1E293B"/>
                </a:solidFill>
                <a:latin typeface="Calibri"/>
              </a:rPr>
              <a:t>SIH26139</a:t>
            </a:r>
            <a:endParaRPr lang="en-US" dirty="0"/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Problem Statement Title : </a:t>
            </a:r>
            <a:r>
              <a:rPr sz="1300">
                <a:solidFill>
                  <a:srgbClr val="1E293B"/>
                </a:solidFill>
                <a:latin typeface="Calibri"/>
              </a:rPr>
              <a:t>Hybrid Quantum Machine Learning Platform for Early Disease Detection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Theme : </a:t>
            </a:r>
            <a:r>
              <a:rPr sz="1300">
                <a:solidFill>
                  <a:srgbClr val="1E293B"/>
                </a:solidFill>
                <a:latin typeface="Calibri"/>
              </a:rPr>
              <a:t>MedTech / BioTech / HealthTech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PS Category : </a:t>
            </a:r>
            <a:r>
              <a:rPr sz="1300">
                <a:solidFill>
                  <a:srgbClr val="1E293B"/>
                </a:solidFill>
                <a:latin typeface="Calibri"/>
              </a:rPr>
              <a:t>Software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Team ID : </a:t>
            </a:r>
            <a:r>
              <a:rPr sz="1300">
                <a:solidFill>
                  <a:srgbClr val="1E293B"/>
                </a:solidFill>
                <a:latin typeface="Calibri"/>
              </a:rPr>
              <a:t>53476 (Registered on SIH Portal)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Team Name : </a:t>
            </a:r>
            <a:r>
              <a:rPr sz="1300">
                <a:solidFill>
                  <a:srgbClr val="1E293B"/>
                </a:solidFill>
                <a:latin typeface="Calibri"/>
              </a:rPr>
              <a:t>Code 404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b="1" u="none" sz="1300">
                <a:solidFill>
                  <a:srgbClr val="0A2540"/>
                </a:solidFill>
                <a:latin typeface="Calibri"/>
              </a:rPr>
              <a:t>Institute : </a:t>
            </a:r>
            <a:r>
              <a:rPr sz="1300">
                <a:solidFill>
                  <a:srgbClr val="1E293B"/>
                </a:solidFill>
                <a:latin typeface="Calibri"/>
              </a:rPr>
              <a:t>National Institute of Technology Nagaland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1026" descr="QuantumHealth_AI_Infographic_Coll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0352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1750" b="1"/>
              <a:t>IDEA: QuantumHealth AI — Hybrid QML Platform for Early Disease Detection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0" y="0"/>
            <a:ext cx="91440" cy="91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Code 404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Rounded Rectangle 15362"/>
          <p:cNvSpPr/>
          <p:nvPr/>
        </p:nvSpPr>
        <p:spPr>
          <a:xfrm>
            <a:off x="685800" y="1115568"/>
            <a:ext cx="5897880" cy="1298448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950">
                <a:solidFill>
                  <a:srgbClr val="E11D48"/>
                </a:solidFill>
                <a:latin typeface="Calibri"/>
              </a:rPr>
              <a:t>PROBLEM EXISTING (CLINICAL &amp; TECHNOLOGICAL CRISIS)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E11D48"/>
                </a:solidFill>
                <a:latin typeface="Calibri"/>
              </a:rPr>
              <a:t>Diagnostic Delay Crisis : </a:t>
            </a:r>
            <a:r>
              <a:rPr sz="819">
                <a:solidFill>
                  <a:srgbClr val="1E293B"/>
                </a:solidFill>
                <a:latin typeface="Calibri"/>
              </a:rPr>
              <a:t>80% of rural chronic disease cases (CKD, Type-2 Diabetes, CVD) in India are identified only at Stage III/IV when treatments are unaffordable.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E11D48"/>
                </a:solidFill>
                <a:latin typeface="Calibri"/>
              </a:rPr>
              <a:t>AI Hallucination Fear : </a:t>
            </a:r>
            <a:r>
              <a:rPr sz="819">
                <a:solidFill>
                  <a:srgbClr val="1E293B"/>
                </a:solidFill>
                <a:latin typeface="Calibri"/>
              </a:rPr>
              <a:t>Existing classical ML models guess blindly on missing clinical sentinels (e.g. FPG = 0) with uncalibrated overconfidence, risking patient safety.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E11D48"/>
                </a:solidFill>
                <a:latin typeface="Calibri"/>
              </a:rPr>
              <a:t>Extreme Compute Barrier : </a:t>
            </a:r>
            <a:r>
              <a:rPr sz="819">
                <a:solidFill>
                  <a:srgbClr val="1E293B"/>
                </a:solidFill>
                <a:latin typeface="Calibri"/>
              </a:rPr>
              <a:t>Hospital AI solutions demand expensive GPU servers and proprietary licenses unreachable for rural Primary Health Centres (PHCs).</a:t>
            </a:r>
          </a:p>
        </p:txBody>
      </p:sp>
      <p:pic>
        <p:nvPicPr>
          <p:cNvPr id="15364" name="Picture 15363" descr="quantum_co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487168"/>
            <a:ext cx="1371600" cy="868680"/>
          </a:xfrm>
          <a:prstGeom prst="rect">
            <a:avLst/>
          </a:prstGeom>
        </p:spPr>
      </p:pic>
      <p:pic>
        <p:nvPicPr>
          <p:cNvPr id="15365" name="Picture 15364" descr="clinical_dashboa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6272" y="2487168"/>
            <a:ext cx="1371600" cy="868680"/>
          </a:xfrm>
          <a:prstGeom prst="rect">
            <a:avLst/>
          </a:prstGeom>
        </p:spPr>
      </p:pic>
      <p:pic>
        <p:nvPicPr>
          <p:cNvPr id="15366" name="Picture 15365" descr="molecular_insight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2487168"/>
            <a:ext cx="1371600" cy="868680"/>
          </a:xfrm>
          <a:prstGeom prst="rect">
            <a:avLst/>
          </a:prstGeom>
        </p:spPr>
      </p:pic>
      <p:pic>
        <p:nvPicPr>
          <p:cNvPr id="15367" name="Picture 15366" descr="xai_sh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7216" y="2487168"/>
            <a:ext cx="1371600" cy="868680"/>
          </a:xfrm>
          <a:prstGeom prst="rect">
            <a:avLst/>
          </a:prstGeom>
        </p:spPr>
      </p:pic>
      <p:sp>
        <p:nvSpPr>
          <p:cNvPr id="15368" name="Rounded Rectangle 15367"/>
          <p:cNvSpPr/>
          <p:nvPr/>
        </p:nvSpPr>
        <p:spPr>
          <a:xfrm>
            <a:off x="685800" y="3456432"/>
            <a:ext cx="5897880" cy="1536192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87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950">
                <a:solidFill>
                  <a:srgbClr val="1877F2"/>
                </a:solidFill>
                <a:latin typeface="Calibri"/>
              </a:rPr>
              <a:t>PROPOSED SOLUTION (HYBRID QUANTUM-CLASSICAL ARCHITECTURE)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1877F2"/>
                </a:solidFill>
                <a:latin typeface="Calibri"/>
              </a:rPr>
              <a:t>Calibrated 60/40 Consensus : </a:t>
            </a:r>
            <a:r>
              <a:rPr sz="819">
                <a:solidFill>
                  <a:srgbClr val="1E293B"/>
                </a:solidFill>
                <a:latin typeface="Calibri"/>
              </a:rPr>
              <a:t>Fuses 5 tuned classical models (RF, SVM, LR, XGBoost, HistGBM) with a 6-qubit Variational Quantum Classifier (VQC) via dynamic Brier-weighted voting.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1877F2"/>
                </a:solidFill>
                <a:latin typeface="Calibri"/>
              </a:rPr>
              <a:t>Safety-First Clinical Abstention : </a:t>
            </a:r>
            <a:r>
              <a:rPr sz="819">
                <a:solidFill>
                  <a:srgbClr val="1E293B"/>
                </a:solidFill>
                <a:latin typeface="Calibri"/>
              </a:rPr>
              <a:t>Automatically refuses to predict on physiologically impossible inputs (Glucose = 0 mg/dL), out-of-distribution values, or inter-model conflict (Δ &gt; 0.45).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1877F2"/>
                </a:solidFill>
                <a:latin typeface="Calibri"/>
              </a:rPr>
              <a:t>Authentic Multi-Cohort Scale : </a:t>
            </a:r>
            <a:r>
              <a:rPr sz="819">
                <a:solidFill>
                  <a:srgbClr val="1E293B"/>
                </a:solidFill>
                <a:latin typeface="Calibri"/>
              </a:rPr>
              <a:t>Trained and validated on 211,833 authentic patient records (Dryad/BMJ Open, UCI Cleveland, Wisconsin WDBC) with zero toy shortcuts.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1877F2"/>
                </a:solidFill>
                <a:latin typeface="Calibri"/>
              </a:rPr>
              <a:t>Three-Mode Breakthrough : </a:t>
            </a:r>
            <a:r>
              <a:rPr sz="819">
                <a:solidFill>
                  <a:srgbClr val="1E293B"/>
                </a:solidFill>
                <a:latin typeface="Calibri"/>
              </a:rPr>
              <a:t>Mode 1 (1:1 Clinical Inference), Mode 2 (High-Throughput Batch Triage), Mode 3 (Safety Guardrail Abstention) cover every screening scenario.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685800" y="5065776"/>
            <a:ext cx="5897880" cy="14447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950">
                <a:solidFill>
                  <a:srgbClr val="059669"/>
                </a:solidFill>
                <a:latin typeface="Calibri"/>
              </a:rPr>
              <a:t>UVP (UNIQUE VALUE PROPOSITION)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059669"/>
                </a:solidFill>
                <a:latin typeface="Calibri"/>
              </a:rPr>
              <a:t>99.88% Parameter Compression : </a:t>
            </a:r>
            <a:r>
              <a:rPr sz="819">
                <a:solidFill>
                  <a:srgbClr val="1E293B"/>
                </a:solidFill>
                <a:latin typeface="Calibri"/>
              </a:rPr>
              <a:t>24 quantum variational parameters match the expressivity of 18,000 Random Forest decision nodes by computing in a 64-dimensional Hilbert space.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059669"/>
                </a:solidFill>
                <a:latin typeface="Calibri"/>
              </a:rPr>
              <a:t>ICMR-INDIAB South Asian Tuning : </a:t>
            </a:r>
            <a:r>
              <a:rPr sz="819">
                <a:solidFill>
                  <a:srgbClr val="1E293B"/>
                </a:solidFill>
                <a:latin typeface="Calibri"/>
              </a:rPr>
              <a:t>Recalibrated specifically for the Indian 'Thin-Fat Phenotype' with lower BMI cutoffs (≥ 23 kg/m² overweight) where cardiometabolic risks spike prematurely.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059669"/>
                </a:solidFill>
                <a:latin typeface="Calibri"/>
              </a:rPr>
              <a:t>Zero Hardware Cost at the Edge : </a:t>
            </a:r>
            <a:r>
              <a:rPr sz="819">
                <a:solidFill>
                  <a:srgbClr val="1E293B"/>
                </a:solidFill>
                <a:latin typeface="Calibri"/>
              </a:rPr>
              <a:t>Runs locally on standard ₹25,000 PHC laptops without requiring a physical quantum computer; ₹0 per-patient operational cost.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sng" sz="819">
                <a:solidFill>
                  <a:srgbClr val="059669"/>
                </a:solidFill>
                <a:latin typeface="Calibri"/>
              </a:rPr>
              <a:t>Verifiable Clinical Trust : </a:t>
            </a:r>
            <a:r>
              <a:rPr sz="819">
                <a:solidFill>
                  <a:srgbClr val="1E293B"/>
                </a:solidFill>
                <a:latin typeface="Calibri"/>
              </a:rPr>
              <a:t>Automated 50/50 passing test suite with tamper-evident, printable Clinical Decision Support (CDS) reports with SHA-256 audit hashes.</a:t>
            </a:r>
          </a:p>
        </p:txBody>
      </p:sp>
      <p:pic>
        <p:nvPicPr>
          <p:cNvPr id="15370" name="Picture 15369" descr="QuantumHealth_AI_Architecture_Flowchar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1115568"/>
            <a:ext cx="4892040" cy="3931920"/>
          </a:xfrm>
          <a:prstGeom prst="rect">
            <a:avLst/>
          </a:prstGeom>
        </p:spPr>
      </p:pic>
      <p:pic>
        <p:nvPicPr>
          <p:cNvPr id="15371" name="Picture 15370" descr="trust_badg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5138928"/>
            <a:ext cx="489204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1750" b="1"/>
              <a:t>TECHNICAL APPROACH: Decision Flowchart &amp; Production Tech Stack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91440" cy="91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Code 404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17410" descr="decision_tree_slid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15568"/>
            <a:ext cx="10835640" cy="3291840"/>
          </a:xfrm>
          <a:prstGeom prst="rect">
            <a:avLst/>
          </a:prstGeom>
        </p:spPr>
      </p:pic>
      <p:pic>
        <p:nvPicPr>
          <p:cNvPr id="17412" name="Picture 17411" descr="tech_stack_slid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26280"/>
            <a:ext cx="6720840" cy="1874519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7543800" y="4526280"/>
            <a:ext cx="3977639" cy="1874519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059669"/>
                </a:solidFill>
                <a:latin typeface="Calibri"/>
              </a:rPr>
              <a:t>OPERATIONAL ESTIMATES &amp; SPECS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Inference Latency : </a:t>
            </a:r>
            <a:r>
              <a:rPr sz="850">
                <a:solidFill>
                  <a:srgbClr val="1E293B"/>
                </a:solidFill>
                <a:latin typeface="Calibri"/>
              </a:rPr>
              <a:t>1.1s for full hybrid classical-quantum consensus prediction.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Batch Triage Speed : </a:t>
            </a:r>
            <a:r>
              <a:rPr sz="850">
                <a:solidFill>
                  <a:srgbClr val="1E293B"/>
                </a:solidFill>
                <a:latin typeface="Calibri"/>
              </a:rPr>
              <a:t>12s to process 500 patient records across rural village cohorts (~10,000+/hr).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Test Verification : </a:t>
            </a:r>
            <a:r>
              <a:rPr sz="850">
                <a:solidFill>
                  <a:srgbClr val="1E293B"/>
                </a:solidFill>
                <a:latin typeface="Calibri"/>
              </a:rPr>
              <a:t>50 / 50 automated tests passing across classical, quantum, and API modules (293s).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Quantum Compression : </a:t>
            </a:r>
            <a:r>
              <a:rPr sz="850">
                <a:solidFill>
                  <a:srgbClr val="1E293B"/>
                </a:solidFill>
                <a:latin typeface="Calibri"/>
              </a:rPr>
              <a:t>24 variational parameters replace 18,000 classical tree nodes in 64-D Hilbert space.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Zero Hardware Barrier : </a:t>
            </a:r>
            <a:r>
              <a:rPr sz="850">
                <a:solidFill>
                  <a:srgbClr val="1E293B"/>
                </a:solidFill>
                <a:latin typeface="Calibri"/>
              </a:rPr>
              <a:t>Runs on standard ₹25,000 PHC laptop; ₹0 incremental infrastructure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1750" b="1"/>
              <a:t>FEASIBILITY AND VIABILITY: Technical, Clinical &amp; Economic Sustainability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91440" cy="91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Code 404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685800" y="1115568"/>
            <a:ext cx="5321808" cy="26974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87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1877F2"/>
                </a:solidFill>
                <a:latin typeface="Calibri"/>
              </a:rPr>
              <a:t>FEASIBILITY ANALYSIS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Technical Feasibility : </a:t>
            </a:r>
            <a:r>
              <a:rPr sz="850">
                <a:solidFill>
                  <a:srgbClr val="1E293B"/>
                </a:solidFill>
                <a:latin typeface="Calibri"/>
              </a:rPr>
              <a:t>Proven modern stack (Python FastAPI + PennyLane + React 18). End-to-end working software validated with 50/50 passing automated tests.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Data Compliance : </a:t>
            </a:r>
            <a:r>
              <a:rPr sz="850">
                <a:solidFill>
                  <a:srgbClr val="1E293B"/>
                </a:solidFill>
                <a:latin typeface="Calibri"/>
              </a:rPr>
              <a:t>Strictly aligned with ICMR-INDIAB 2023 South Asian diagnostic criteria and trained on 211,833 authentic Dryad/BMJ Open records.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Quantum Innovation : </a:t>
            </a:r>
            <a:r>
              <a:rPr sz="850">
                <a:solidFill>
                  <a:srgbClr val="1E293B"/>
                </a:solidFill>
                <a:latin typeface="Calibri"/>
              </a:rPr>
              <a:t>99.88% parameter compression mathematically validated in 64-dimensional Hilbert space (H^{⊗6}); shallow depth (&lt;12) avoids barren plateaus.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Operational Readiness : </a:t>
            </a:r>
            <a:r>
              <a:rPr sz="850">
                <a:solidFill>
                  <a:srgbClr val="1E293B"/>
                </a:solidFill>
                <a:latin typeface="Calibri"/>
              </a:rPr>
              <a:t>Runs smoothly offline on existing hospital hardware without internet connection during rural power or connectivity cuts.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Economic Feasibility : </a:t>
            </a:r>
            <a:r>
              <a:rPr sz="850">
                <a:solidFill>
                  <a:srgbClr val="1E293B"/>
                </a:solidFill>
                <a:latin typeface="Calibri"/>
              </a:rPr>
              <a:t>Deploys on standard ₹25,000 laptops at rural health centres; ₹0 incremental hardware investment; 100% free open-source stack.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99632" y="1115568"/>
            <a:ext cx="5321808" cy="26974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59669"/>
                </a:solidFill>
                <a:latin typeface="Calibri"/>
              </a:rPr>
              <a:t>VIABILITY &amp; NATIONAL SCALABILITY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Market Need : </a:t>
            </a:r>
            <a:r>
              <a:rPr sz="850">
                <a:solidFill>
                  <a:srgbClr val="1E293B"/>
                </a:solidFill>
                <a:latin typeface="Calibri"/>
              </a:rPr>
              <a:t>India is the diabetes capital with 101M diabetics + 136M pre-diabetics; CVD accounts for 28.1% of all deaths; massive unaddressed preventive screening gap.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Policy Alignment : </a:t>
            </a:r>
            <a:r>
              <a:rPr sz="850">
                <a:solidFill>
                  <a:srgbClr val="1E293B"/>
                </a:solidFill>
                <a:latin typeface="Calibri"/>
              </a:rPr>
              <a:t>Directly supports Ayushman Bharat (ABDM), National Health Mission (NHM), and Digital India healthcare interoperability standards.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Healthcare ROI : </a:t>
            </a:r>
            <a:r>
              <a:rPr sz="850">
                <a:solidFill>
                  <a:srgbClr val="1E293B"/>
                </a:solidFill>
                <a:latin typeface="Calibri"/>
              </a:rPr>
              <a:t>40%–60% reduction in catastrophic household out-of-pocket medical expenditure by halting progression before dialysis or heart failure.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National Scale : </a:t>
            </a:r>
            <a:r>
              <a:rPr sz="850">
                <a:solidFill>
                  <a:srgbClr val="1E293B"/>
                </a:solidFill>
                <a:latin typeface="Calibri"/>
              </a:rPr>
              <a:t>Ready for rapid integration into 24,000+ Primary Health Centres and 1.5 Lakh Ayushman Arogya Mandirs via 1-click batch triage.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Sustainable Rollout : </a:t>
            </a:r>
            <a:r>
              <a:rPr sz="850">
                <a:solidFill>
                  <a:srgbClr val="1E293B"/>
                </a:solidFill>
                <a:latin typeface="Calibri"/>
              </a:rPr>
              <a:t>Self-sustaining public health deployment model with modular disease add-ons (kidney, oncology, cardiac).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85800" y="3931920"/>
            <a:ext cx="5321808" cy="20574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D97706"/>
                </a:solidFill>
                <a:latin typeface="Calibri"/>
              </a:rPr>
              <a:t>TECHNICAL CHALLENGES &amp; RISK MITIGATION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D97706"/>
                </a:solidFill>
                <a:latin typeface="Calibri"/>
              </a:rPr>
              <a:t>Risk (NISQ Hardware Noise) : </a:t>
            </a:r>
            <a:r>
              <a:rPr sz="850">
                <a:solidFill>
                  <a:srgbClr val="1E293B"/>
                </a:solidFill>
                <a:latin typeface="Calibri"/>
              </a:rPr>
              <a:t>Physical quantum processors suffer from gate errors and qubit decoherence.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D97706"/>
                </a:solidFill>
                <a:latin typeface="Calibri"/>
              </a:rPr>
              <a:t>Mitigation (Noise Physics &amp; ZNE) : </a:t>
            </a:r>
            <a:r>
              <a:rPr sz="850">
                <a:solidFill>
                  <a:srgbClr val="1E293B"/>
                </a:solidFill>
                <a:latin typeface="Calibri"/>
              </a:rPr>
              <a:t>Built-in depolarizing noise simulation (p=0.05) with Zero-Noise Extrapolation (ZNE) error mitigation and classical ensemble fallbacks.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D97706"/>
                </a:solidFill>
                <a:latin typeface="Calibri"/>
              </a:rPr>
              <a:t>Risk (Barren Plateaus) : </a:t>
            </a:r>
            <a:r>
              <a:rPr sz="850">
                <a:solidFill>
                  <a:srgbClr val="1E293B"/>
                </a:solidFill>
                <a:latin typeface="Calibri"/>
              </a:rPr>
              <a:t>Deep quantum circuits suffer from vanishing gradient landscapes during optimization.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D97706"/>
                </a:solidFill>
                <a:latin typeface="Calibri"/>
              </a:rPr>
              <a:t>Mitigation (Shallow Ansatz) : </a:t>
            </a:r>
            <a:r>
              <a:rPr sz="850">
                <a:solidFill>
                  <a:srgbClr val="1E293B"/>
                </a:solidFill>
                <a:latin typeface="Calibri"/>
              </a:rPr>
              <a:t>Strongly entangling layers restricted to depth &lt; 12 with localized CNOT ring topology.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99632" y="3931920"/>
            <a:ext cx="5321808" cy="205740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E11D48"/>
                </a:solidFill>
                <a:latin typeface="Calibri"/>
              </a:rPr>
              <a:t>CLINICAL &amp; HEALTHCARE CHALLENGES &amp; MITIGATION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E11D48"/>
                </a:solidFill>
                <a:latin typeface="Calibri"/>
              </a:rPr>
              <a:t>Risk (Black-Box Skepticism) : </a:t>
            </a:r>
            <a:r>
              <a:rPr sz="850">
                <a:solidFill>
                  <a:srgbClr val="1E293B"/>
                </a:solidFill>
                <a:latin typeface="Calibri"/>
              </a:rPr>
              <a:t>Clinicians resist adopting AI models that cannot explain the biological rationale.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E11D48"/>
                </a:solidFill>
                <a:latin typeface="Calibri"/>
              </a:rPr>
              <a:t>Mitigation (SHAP &amp; Confidence) : </a:t>
            </a:r>
            <a:r>
              <a:rPr sz="850">
                <a:solidFill>
                  <a:srgbClr val="1E293B"/>
                </a:solidFill>
                <a:latin typeface="Calibri"/>
              </a:rPr>
              <a:t>Every inference provides local SHAP biomarker attributions, bootstrap confidence intervals, and qubit weightings.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E11D48"/>
                </a:solidFill>
                <a:latin typeface="Calibri"/>
              </a:rPr>
              <a:t>Risk (AI Hallucination on Noise) : </a:t>
            </a:r>
            <a:r>
              <a:rPr sz="850">
                <a:solidFill>
                  <a:srgbClr val="1E293B"/>
                </a:solidFill>
                <a:latin typeface="Calibri"/>
              </a:rPr>
              <a:t>Models guess blindly on sensor failure or unphysiological patient inputs (e.g. Glucose = 0).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E11D48"/>
                </a:solidFill>
                <a:latin typeface="Calibri"/>
              </a:rPr>
              <a:t>Mitigation (Safety Abstention) : </a:t>
            </a:r>
            <a:r>
              <a:rPr sz="850">
                <a:solidFill>
                  <a:srgbClr val="1E293B"/>
                </a:solidFill>
                <a:latin typeface="Calibri"/>
              </a:rPr>
              <a:t>Hardcoded sentinel guardrails immediately refuse prediction and mandate laboratory re-testing.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1750" b="1"/>
              <a:t>IMPACT AND BENEFITS: Healthcare Transformation &amp; Benchmark Comparison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91440" cy="91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Code 404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685800" y="1115568"/>
            <a:ext cx="5029200" cy="2788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87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1877F2"/>
                </a:solidFill>
                <a:latin typeface="Calibri"/>
              </a:rPr>
              <a:t>MACRO HEALTHCARE &amp; SOCIO-ECONOMIC IMPACT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Economic &amp; Financial Impact : </a:t>
            </a:r>
            <a:r>
              <a:rPr sz="850">
                <a:solidFill>
                  <a:srgbClr val="1E293B"/>
                </a:solidFill>
                <a:latin typeface="Calibri"/>
              </a:rPr>
              <a:t>Pre-symptomatic detection 3–5 years earlier prevents end-stage renal failure and bypass surgeries, saving Indian families ₹50,000+ crore in out-of-pocket expenses.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Public Health &amp; Environmental : </a:t>
            </a:r>
            <a:r>
              <a:rPr sz="850">
                <a:solidFill>
                  <a:srgbClr val="1E293B"/>
                </a:solidFill>
                <a:latin typeface="Calibri"/>
              </a:rPr>
              <a:t>Non-invasive multi-biomarker screening eliminates redundant invasive lab biopsies, conserving chemical reagents and reducing patient travel emissions.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Social &amp; Healthcare Equity : </a:t>
            </a:r>
            <a:r>
              <a:rPr sz="850">
                <a:solidFill>
                  <a:srgbClr val="1E293B"/>
                </a:solidFill>
                <a:latin typeface="Calibri"/>
              </a:rPr>
              <a:t>Brings tertiary-level specialist diagnostic second opinions to remote North-Eastern &amp; rural districts (e.g. Nagaland), empowering ASHA workers and doctors.</a:t>
            </a:r>
          </a:p>
        </p:txBody>
      </p:sp>
      <p:pic>
        <p:nvPicPr>
          <p:cNvPr id="17412" name="Picture 17411" descr="feature_comparison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1115568"/>
            <a:ext cx="5623560" cy="2788920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85800" y="4069080"/>
            <a:ext cx="3474720" cy="224028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187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1877F2"/>
                </a:solidFill>
                <a:latin typeface="Calibri"/>
              </a:rPr>
              <a:t>MODE 1: 1:1 CLINICAL INFERENCE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For : </a:t>
            </a:r>
            <a:r>
              <a:rPr sz="850">
                <a:solidFill>
                  <a:srgbClr val="1E293B"/>
                </a:solidFill>
                <a:latin typeface="Calibri"/>
              </a:rPr>
              <a:t>Individual OPD outpatient consultations.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Process : </a:t>
            </a:r>
            <a:r>
              <a:rPr sz="850">
                <a:solidFill>
                  <a:srgbClr val="1E293B"/>
                </a:solidFill>
                <a:latin typeface="Calibri"/>
              </a:rPr>
              <a:t>Biomarker input → 60/40 consensus → Risk gauge.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Latency : </a:t>
            </a:r>
            <a:r>
              <a:rPr sz="850">
                <a:solidFill>
                  <a:srgbClr val="1E293B"/>
                </a:solidFill>
                <a:latin typeface="Calibri"/>
              </a:rPr>
              <a:t>1.1s  •  98%+ Calibrated  •  Signed CDS PDF.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Best For : </a:t>
            </a:r>
            <a:r>
              <a:rPr sz="850">
                <a:solidFill>
                  <a:srgbClr val="1E293B"/>
                </a:solidFill>
                <a:latin typeface="Calibri"/>
              </a:rPr>
              <a:t>Primary care doctors &amp; hospital OPD clinics.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D97706"/>
                </a:solidFill>
                <a:latin typeface="Calibri"/>
              </a:rPr>
              <a:t>MODE 2: POPULATION BATCH TRIAGE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For : </a:t>
            </a:r>
            <a:r>
              <a:rPr sz="850">
                <a:solidFill>
                  <a:srgbClr val="1E293B"/>
                </a:solidFill>
                <a:latin typeface="Calibri"/>
              </a:rPr>
              <a:t>Village-level health screening camps.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Process : </a:t>
            </a:r>
            <a:r>
              <a:rPr sz="850">
                <a:solidFill>
                  <a:srgbClr val="1E293B"/>
                </a:solidFill>
                <a:latin typeface="Calibri"/>
              </a:rPr>
              <a:t>Upload cohort CSV → Vectorized triage → Risk tags.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Latency : </a:t>
            </a:r>
            <a:r>
              <a:rPr sz="850">
                <a:solidFill>
                  <a:srgbClr val="1E293B"/>
                </a:solidFill>
                <a:latin typeface="Calibri"/>
              </a:rPr>
              <a:t>12s for 500 patients (~10,000+ per hour).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Best For : </a:t>
            </a:r>
            <a:r>
              <a:rPr sz="850">
                <a:solidFill>
                  <a:srgbClr val="1E293B"/>
                </a:solidFill>
                <a:latin typeface="Calibri"/>
              </a:rPr>
              <a:t>ASHA &amp; ANM community health workers.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046720" y="4069080"/>
            <a:ext cx="3474720" cy="2240280"/>
          </a:xfrm>
          <a:prstGeom prst="roundRect">
            <a:avLst/>
          </a:prstGeom>
          <a:solidFill>
            <a:srgbClr val="FFF1F2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E11D48"/>
                </a:solidFill>
                <a:latin typeface="Calibri"/>
              </a:rPr>
              <a:t>MODE 3: SAFETY ABSTENTION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For : </a:t>
            </a:r>
            <a:r>
              <a:rPr sz="850">
                <a:solidFill>
                  <a:srgbClr val="1E293B"/>
                </a:solidFill>
                <a:latin typeface="Calibri"/>
              </a:rPr>
              <a:t>Corrupted inputs, FPG = 0, or model conflict (Δ&gt;0.45).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Process : </a:t>
            </a:r>
            <a:r>
              <a:rPr sz="850">
                <a:solidFill>
                  <a:srgbClr val="1E293B"/>
                </a:solidFill>
                <a:latin typeface="Calibri"/>
              </a:rPr>
              <a:t>Instant refusal → Diagnostic flag → Re-test alert.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Latency : </a:t>
            </a:r>
            <a:r>
              <a:rPr sz="850">
                <a:solidFill>
                  <a:srgbClr val="1E293B"/>
                </a:solidFill>
                <a:latin typeface="Calibri"/>
              </a:rPr>
              <a:t>2ms  •  100% Zero AI Hallucination Guarantee.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Best For : </a:t>
            </a:r>
            <a:r>
              <a:rPr sz="850">
                <a:solidFill>
                  <a:srgbClr val="1E293B"/>
                </a:solidFill>
                <a:latin typeface="Calibri"/>
              </a:rPr>
              <a:t>Medico-legal safety &amp; patient protection.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1750" b="1"/>
              <a:t>RESEARCH AND REFERENCES: Scientific Literature &amp; Functional Prototype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91440" cy="91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100" b="1"/>
              <a:t>Code 404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685800" y="1115568"/>
            <a:ext cx="10835640" cy="16916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87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1877F2"/>
                </a:solidFill>
                <a:latin typeface="Calibri"/>
              </a:rPr>
              <a:t>SCIENTIFIC LITERATURE &amp; CLINICAL STANDARDS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ICMR-INDIAB 2023 Study : </a:t>
            </a:r>
            <a:r>
              <a:rPr sz="850">
                <a:solidFill>
                  <a:srgbClr val="1E293B"/>
                </a:solidFill>
                <a:latin typeface="Calibri"/>
              </a:rPr>
              <a:t>Lancet Diabetes &amp; Endocrinology: Epidemiological profiling of 101M diabetics and South Asian phenotype thresholds.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Dryad / BMJ Open Cohort : </a:t>
            </a:r>
            <a:r>
              <a:rPr sz="850">
                <a:solidFill>
                  <a:srgbClr val="1E293B"/>
                </a:solidFill>
                <a:latin typeface="Calibri"/>
              </a:rPr>
              <a:t>Chen et al. (2018): 211,833 authentic patient records for incident diabetes risk prediction (zero toy datasets).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Quantum Machine Learning : </a:t>
            </a:r>
            <a:r>
              <a:rPr sz="850">
                <a:solidFill>
                  <a:srgbClr val="1E293B"/>
                </a:solidFill>
                <a:latin typeface="Calibri"/>
              </a:rPr>
              <a:t>Schuld et al. (2021) 'Supervised Quantum Learning Models' &amp; Xanadu PennyLane VQC architecture documentation.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Clinical AI Governance : </a:t>
            </a:r>
            <a:r>
              <a:rPr sz="850">
                <a:solidFill>
                  <a:srgbClr val="1E293B"/>
                </a:solidFill>
                <a:latin typeface="Calibri"/>
              </a:rPr>
              <a:t>WHO Guidance on Ethics and Governance of AI for Health &amp; IEEE Standards on Clinical Decision Support.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85800" y="2926080"/>
            <a:ext cx="5321808" cy="1691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64748B"/>
                </a:solidFill>
                <a:latin typeface="Calibri"/>
              </a:rPr>
              <a:t>SOLUTIONS ALREADY EXIST (COMMERCIAL SYSTEMS)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Commercial AI : </a:t>
            </a:r>
            <a:r>
              <a:rPr sz="850">
                <a:solidFill>
                  <a:srgbClr val="1E293B"/>
                </a:solidFill>
                <a:latin typeface="Calibri"/>
              </a:rPr>
              <a:t>Epic AI, IBM Watson Health, Aidoc, Qure.ai.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High Cost &amp; Compute : </a:t>
            </a:r>
            <a:r>
              <a:rPr sz="850">
                <a:solidFill>
                  <a:srgbClr val="1E293B"/>
                </a:solidFill>
                <a:latin typeface="Calibri"/>
              </a:rPr>
              <a:t>Require expensive proprietary licenses and ₹10L+ GPU servers.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Closed Box : </a:t>
            </a:r>
            <a:r>
              <a:rPr sz="850">
                <a:solidFill>
                  <a:srgbClr val="1E293B"/>
                </a:solidFill>
                <a:latin typeface="Calibri"/>
              </a:rPr>
              <a:t>Uncalibrated black-box models with zero quantum parameter compression.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Online Only : </a:t>
            </a:r>
            <a:r>
              <a:rPr sz="850">
                <a:solidFill>
                  <a:srgbClr val="1E293B"/>
                </a:solidFill>
                <a:latin typeface="Calibri"/>
              </a:rPr>
              <a:t>Cannot operate offline in rural PHCs during network outages.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99632" y="2926080"/>
            <a:ext cx="5321808" cy="16916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059669"/>
                </a:solidFill>
                <a:latin typeface="Calibri"/>
              </a:rPr>
              <a:t>OUR SOLUTION STANDS OUT (QUANTUMHEALTH AI)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99.88% Compression : </a:t>
            </a:r>
            <a:r>
              <a:rPr sz="850">
                <a:solidFill>
                  <a:srgbClr val="1E293B"/>
                </a:solidFill>
                <a:latin typeface="Calibri"/>
              </a:rPr>
              <a:t>24 quantum parameters replace 18,000 tree nodes in 64-D Hilbert space.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Zero Hardware Cost : </a:t>
            </a:r>
            <a:r>
              <a:rPr sz="850">
                <a:solidFill>
                  <a:srgbClr val="1E293B"/>
                </a:solidFill>
                <a:latin typeface="Calibri"/>
              </a:rPr>
              <a:t>Runs offline on standard ₹25,000 laptops at Primary Health Centres.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Safety Abstention : </a:t>
            </a:r>
            <a:r>
              <a:rPr sz="850">
                <a:solidFill>
                  <a:srgbClr val="1E293B"/>
                </a:solidFill>
                <a:latin typeface="Calibri"/>
              </a:rPr>
              <a:t>Refuses to guess on invalid sentinels (FPG=0); 100% safety containment.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ICMR-INDIAB Tuned : </a:t>
            </a:r>
            <a:r>
              <a:rPr sz="850">
                <a:solidFill>
                  <a:srgbClr val="1E293B"/>
                </a:solidFill>
                <a:latin typeface="Calibri"/>
              </a:rPr>
              <a:t>Recalibrated specifically for Indian Thin-Fat Phenotype cutoffs.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85800" y="4754880"/>
            <a:ext cx="5943600" cy="1691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b="1" sz="1000">
                <a:solidFill>
                  <a:srgbClr val="0A2540"/>
                </a:solidFill>
                <a:latin typeface="Calibri"/>
              </a:rPr>
              <a:t>PROJECT RESOURCES (FULLY FUNCTIONAL PROTOTYPE)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Interactive Web Prototype : </a:t>
            </a:r>
            <a:r>
              <a:rPr sz="850">
                <a:solidFill>
                  <a:srgbClr val="1E293B"/>
                </a:solidFill>
                <a:latin typeface="Calibri"/>
              </a:rPr>
              <a:t>http://localhost:5173 — Full multi-disease risk analysis &amp; batch triage.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Backend API &amp; Swagger Docs : </a:t>
            </a:r>
            <a:r>
              <a:rPr sz="850">
                <a:solidFill>
                  <a:srgbClr val="1E293B"/>
                </a:solidFill>
                <a:latin typeface="Calibri"/>
              </a:rPr>
              <a:t>http://127.0.0.1:8000/docs — 10 REST endpoints with automated Pydantic schemas.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Automated Verification Suite : </a:t>
            </a:r>
            <a:r>
              <a:rPr sz="850">
                <a:solidFill>
                  <a:srgbClr val="1E293B"/>
                </a:solidFill>
                <a:latin typeface="Calibri"/>
              </a:rPr>
              <a:t>50 / 50 automated pytest tests passing across all clinical modules (293s).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b="1" u="none" sz="850">
                <a:solidFill>
                  <a:srgbClr val="0A2540"/>
                </a:solidFill>
                <a:latin typeface="Calibri"/>
              </a:rPr>
              <a:t>Signed Clinical Decision PDF : </a:t>
            </a:r>
            <a:r>
              <a:rPr sz="850">
                <a:solidFill>
                  <a:srgbClr val="1E293B"/>
                </a:solidFill>
                <a:latin typeface="Calibri"/>
              </a:rPr>
              <a:t>SHA-256 tamper-evident digital audit certificates with QR verification.</a:t>
            </a:r>
          </a:p>
        </p:txBody>
      </p:sp>
      <p:pic>
        <p:nvPicPr>
          <p:cNvPr id="17415" name="Picture 17414" descr="clinical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754880"/>
            <a:ext cx="2286000" cy="1691640"/>
          </a:xfrm>
          <a:prstGeom prst="rect">
            <a:avLst/>
          </a:prstGeom>
        </p:spPr>
      </p:pic>
      <p:pic>
        <p:nvPicPr>
          <p:cNvPr id="17416" name="Picture 17415" descr="quantum_co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4754880"/>
            <a:ext cx="2286000" cy="169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Ahmad Ali</cp:lastModifiedBy>
  <cp:revision>149</cp:revision>
  <dcterms:created xsi:type="dcterms:W3CDTF">2013-12-12T18:46:50Z</dcterms:created>
  <dcterms:modified xsi:type="dcterms:W3CDTF">2026-08-26T06:52:29Z</dcterms:modified>
  <cp:category/>
</cp:coreProperties>
</file>