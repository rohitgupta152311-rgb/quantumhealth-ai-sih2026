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jp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5212080" cy="4663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</a:pPr>
            <a:r>
              <a:rPr b="1" u="none" sz="1300">
                <a:solidFill>
                  <a:srgbClr val="0A2540"/>
                </a:solidFill>
                <a:latin typeface="Calibri"/>
              </a:rPr>
              <a:t>Problem Statement ID : </a:t>
            </a:r>
            <a:r>
              <a:rPr sz="1300">
                <a:solidFill>
                  <a:srgbClr val="1E293B"/>
                </a:solidFill>
                <a:latin typeface="Calibri"/>
              </a:rPr>
              <a:t>SIH26139</a:t>
            </a:r>
            <a:endParaRPr lang="en-US" dirty="0"/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b="1" u="none" sz="1300">
                <a:solidFill>
                  <a:srgbClr val="0A2540"/>
                </a:solidFill>
                <a:latin typeface="Calibri"/>
              </a:rPr>
              <a:t>Problem Statement Title : </a:t>
            </a:r>
            <a:r>
              <a:rPr sz="1300">
                <a:solidFill>
                  <a:srgbClr val="1E293B"/>
                </a:solidFill>
                <a:latin typeface="Calibri"/>
              </a:rPr>
              <a:t>Hybrid Quantum Machine Learning Platform for Early Disease Detection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b="1" u="none" sz="1300">
                <a:solidFill>
                  <a:srgbClr val="0A2540"/>
                </a:solidFill>
                <a:latin typeface="Calibri"/>
              </a:rPr>
              <a:t>Theme : </a:t>
            </a:r>
            <a:r>
              <a:rPr sz="1300">
                <a:solidFill>
                  <a:srgbClr val="1E293B"/>
                </a:solidFill>
                <a:latin typeface="Calibri"/>
              </a:rPr>
              <a:t>MedTech / BioTech / HealthTech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b="1" u="none" sz="1300">
                <a:solidFill>
                  <a:srgbClr val="0A2540"/>
                </a:solidFill>
                <a:latin typeface="Calibri"/>
              </a:rPr>
              <a:t>PS Category : </a:t>
            </a:r>
            <a:r>
              <a:rPr sz="1300">
                <a:solidFill>
                  <a:srgbClr val="1E293B"/>
                </a:solidFill>
                <a:latin typeface="Calibri"/>
              </a:rPr>
              <a:t>Software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b="1" u="none" sz="1300">
                <a:solidFill>
                  <a:srgbClr val="0A2540"/>
                </a:solidFill>
                <a:latin typeface="Calibri"/>
              </a:rPr>
              <a:t>Team ID : </a:t>
            </a:r>
            <a:r>
              <a:rPr sz="1300">
                <a:solidFill>
                  <a:srgbClr val="1E293B"/>
                </a:solidFill>
                <a:latin typeface="Calibri"/>
              </a:rPr>
              <a:t>53476 (Registered on SIH Portal)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b="1" u="none" sz="1300">
                <a:solidFill>
                  <a:srgbClr val="0A2540"/>
                </a:solidFill>
                <a:latin typeface="Calibri"/>
              </a:rPr>
              <a:t>Team Name : </a:t>
            </a:r>
            <a:r>
              <a:rPr sz="1300">
                <a:solidFill>
                  <a:srgbClr val="1E293B"/>
                </a:solidFill>
                <a:latin typeface="Calibri"/>
              </a:rPr>
              <a:t>Code 404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b="1" u="none" sz="1300">
                <a:solidFill>
                  <a:srgbClr val="0A2540"/>
                </a:solidFill>
                <a:latin typeface="Calibri"/>
              </a:rPr>
              <a:t>Institute : </a:t>
            </a:r>
            <a:r>
              <a:rPr sz="1300">
                <a:solidFill>
                  <a:srgbClr val="1E293B"/>
                </a:solidFill>
                <a:latin typeface="Calibri"/>
              </a:rPr>
              <a:t>National Institute of Technology Nagaland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026" descr="real_ui_hero_coll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34440"/>
            <a:ext cx="53035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1750" b="1"/>
              <a:t>IDEA: QuantumHealth AI — Hybrid QML Platform for Early Disease Detection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Code 404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Rounded Rectangle 15362"/>
          <p:cNvSpPr/>
          <p:nvPr/>
        </p:nvSpPr>
        <p:spPr>
          <a:xfrm>
            <a:off x="685800" y="1115568"/>
            <a:ext cx="5897880" cy="1261872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sz="950">
                <a:solidFill>
                  <a:srgbClr val="E11D48"/>
                </a:solidFill>
                <a:latin typeface="Calibri"/>
              </a:rPr>
              <a:t>PROBLEM EXISTING (CLINICAL &amp; TECHNOLOGICAL CRISIS)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sng" sz="819">
                <a:solidFill>
                  <a:srgbClr val="E11D48"/>
                </a:solidFill>
                <a:latin typeface="Calibri"/>
              </a:rPr>
              <a:t>Diagnostic Delay Crisis : </a:t>
            </a:r>
            <a:r>
              <a:rPr sz="819">
                <a:solidFill>
                  <a:srgbClr val="1E293B"/>
                </a:solidFill>
                <a:latin typeface="Calibri"/>
              </a:rPr>
              <a:t>80% of rural chronic disease cases (CKD, Type-2 Diabetes, CVD) in India are identified only at Stage III/IV when treatments are unaffordable.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sng" sz="819">
                <a:solidFill>
                  <a:srgbClr val="E11D48"/>
                </a:solidFill>
                <a:latin typeface="Calibri"/>
              </a:rPr>
              <a:t>AI Hallucination Fear : </a:t>
            </a:r>
            <a:r>
              <a:rPr sz="819">
                <a:solidFill>
                  <a:srgbClr val="1E293B"/>
                </a:solidFill>
                <a:latin typeface="Calibri"/>
              </a:rPr>
              <a:t>Existing classical ML models guess blindly on missing clinical sentinels (e.g. FPG = 0) with uncalibrated overconfidence, risking patient safety.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sng" sz="819">
                <a:solidFill>
                  <a:srgbClr val="E11D48"/>
                </a:solidFill>
                <a:latin typeface="Calibri"/>
              </a:rPr>
              <a:t>Extreme Compute Barrier : </a:t>
            </a:r>
            <a:r>
              <a:rPr sz="819">
                <a:solidFill>
                  <a:srgbClr val="1E293B"/>
                </a:solidFill>
                <a:latin typeface="Calibri"/>
              </a:rPr>
              <a:t>Hospital AI solutions demand expensive GPU servers and proprietary licenses unreachable for rural Primary Health Centres (PHCs).</a:t>
            </a:r>
          </a:p>
        </p:txBody>
      </p:sp>
      <p:pic>
        <p:nvPicPr>
          <p:cNvPr id="15364" name="Picture 15363" descr="ui_thumbnails_slid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450592"/>
            <a:ext cx="5897880" cy="1051560"/>
          </a:xfrm>
          <a:prstGeom prst="rect">
            <a:avLst/>
          </a:prstGeom>
        </p:spPr>
      </p:pic>
      <p:sp>
        <p:nvSpPr>
          <p:cNvPr id="15365" name="Rounded Rectangle 15364"/>
          <p:cNvSpPr/>
          <p:nvPr/>
        </p:nvSpPr>
        <p:spPr>
          <a:xfrm>
            <a:off x="685800" y="3566160"/>
            <a:ext cx="5897880" cy="17190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87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sz="950">
                <a:solidFill>
                  <a:srgbClr val="1877F2"/>
                </a:solidFill>
                <a:latin typeface="Calibri"/>
              </a:rPr>
              <a:t>PROPOSED SOLUTION &amp; 4 NUMBERED USP PILLARS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sng" sz="819">
                <a:solidFill>
                  <a:srgbClr val="1877F2"/>
                </a:solidFill>
                <a:latin typeface="Calibri"/>
              </a:rPr>
              <a:t>1. 99.88% Hilbert Compression : </a:t>
            </a:r>
            <a:r>
              <a:rPr sz="819">
                <a:solidFill>
                  <a:srgbClr val="1E293B"/>
                </a:solidFill>
                <a:latin typeface="Calibri"/>
              </a:rPr>
              <a:t>24 quantum variational parameters in 64-D Hilbert space match 18,000 Random Forest decision nodes, overcoming parameter bloat.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sng" sz="819">
                <a:solidFill>
                  <a:srgbClr val="1877F2"/>
                </a:solidFill>
                <a:latin typeface="Calibri"/>
              </a:rPr>
              <a:t>2. 360° Hybrid Consensus Engine : </a:t>
            </a:r>
            <a:r>
              <a:rPr sz="819">
                <a:solidFill>
                  <a:srgbClr val="1E293B"/>
                </a:solidFill>
                <a:latin typeface="Calibri"/>
              </a:rPr>
              <a:t>Fuses 5 tuned classical models (RF, SVM, LR, XGBoost, HistGBM) with 6-qubit PennyLane VQC via dynamic Brier-weighted voting.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sng" sz="819">
                <a:solidFill>
                  <a:srgbClr val="1877F2"/>
                </a:solidFill>
                <a:latin typeface="Calibri"/>
              </a:rPr>
              <a:t>3. Safety Clinical Abstention : </a:t>
            </a:r>
            <a:r>
              <a:rPr sz="819">
                <a:solidFill>
                  <a:srgbClr val="1E293B"/>
                </a:solidFill>
                <a:latin typeface="Calibri"/>
              </a:rPr>
              <a:t>Hardcoded sentinel guardrails guarantee 100% zero AI hallucination on impossible inputs (FPG=0 mg/dL) or model conflict (Δ&gt;0.45).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sng" sz="819">
                <a:solidFill>
                  <a:srgbClr val="1877F2"/>
                </a:solidFill>
                <a:latin typeface="Calibri"/>
              </a:rPr>
              <a:t>4. ICMR-INDIAB South Asian Tuning : </a:t>
            </a:r>
            <a:r>
              <a:rPr sz="819">
                <a:solidFill>
                  <a:srgbClr val="1E293B"/>
                </a:solidFill>
                <a:latin typeface="Calibri"/>
              </a:rPr>
              <a:t>Recalibrated specifically for the Indian 'Thin-Fat Phenotype' with lower BMI cutoffs (≥23 kg/m²) evaluated on 211,833 authentic records.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685800" y="5349240"/>
            <a:ext cx="5897880" cy="1115568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sz="950">
                <a:solidFill>
                  <a:srgbClr val="059669"/>
                </a:solidFill>
                <a:latin typeface="Calibri"/>
              </a:rPr>
              <a:t>OPERATIONAL ADVANTAGE &amp; SUSTAINABILITY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sng" sz="819">
                <a:solidFill>
                  <a:srgbClr val="059669"/>
                </a:solidFill>
                <a:latin typeface="Calibri"/>
              </a:rPr>
              <a:t>Zero Hardware Cost at Edge : </a:t>
            </a:r>
            <a:r>
              <a:rPr sz="819">
                <a:solidFill>
                  <a:srgbClr val="1E293B"/>
                </a:solidFill>
                <a:latin typeface="Calibri"/>
              </a:rPr>
              <a:t>Runs offline on standard ₹25,000 PHC laptops without requiring a physical quantum computer; ₹0 per-patient operational cost.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sng" sz="819">
                <a:solidFill>
                  <a:srgbClr val="059669"/>
                </a:solidFill>
                <a:latin typeface="Calibri"/>
              </a:rPr>
              <a:t>Verifiable Clinical Trust : </a:t>
            </a:r>
            <a:r>
              <a:rPr sz="819">
                <a:solidFill>
                  <a:srgbClr val="1E293B"/>
                </a:solidFill>
                <a:latin typeface="Calibri"/>
              </a:rPr>
              <a:t>Automated 50/50 passing test suite (293s) with tamper-evident, printable CDS reports containing SHA-256 digital audit hashes.</a:t>
            </a:r>
          </a:p>
        </p:txBody>
      </p:sp>
      <p:pic>
        <p:nvPicPr>
          <p:cNvPr id="15367" name="Picture 15366" descr="QuantumHealth_AI_Architecture_Flowchar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1115568"/>
            <a:ext cx="4892040" cy="3931920"/>
          </a:xfrm>
          <a:prstGeom prst="rect">
            <a:avLst/>
          </a:prstGeom>
        </p:spPr>
      </p:pic>
      <p:pic>
        <p:nvPicPr>
          <p:cNvPr id="15368" name="Picture 15367" descr="trust_badg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5138928"/>
            <a:ext cx="4892040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1750" b="1"/>
              <a:t>TECHNICAL APPROACH: Decision Flowchart &amp; Production Tech Stack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Code 404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17410" descr="decision_tree_slid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115568"/>
            <a:ext cx="10835640" cy="3291840"/>
          </a:xfrm>
          <a:prstGeom prst="rect">
            <a:avLst/>
          </a:prstGeom>
        </p:spPr>
      </p:pic>
      <p:pic>
        <p:nvPicPr>
          <p:cNvPr id="17412" name="Picture 17411" descr="tech_stack_slid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526280"/>
            <a:ext cx="6720840" cy="1874519"/>
          </a:xfrm>
          <a:prstGeom prst="rect">
            <a:avLst/>
          </a:prstGeom>
        </p:spPr>
      </p:pic>
      <p:sp>
        <p:nvSpPr>
          <p:cNvPr id="17413" name="Rounded Rectangle 17412"/>
          <p:cNvSpPr/>
          <p:nvPr/>
        </p:nvSpPr>
        <p:spPr>
          <a:xfrm>
            <a:off x="7543800" y="4526280"/>
            <a:ext cx="3977639" cy="187451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sz="1000">
                <a:solidFill>
                  <a:srgbClr val="059669"/>
                </a:solidFill>
                <a:latin typeface="Calibri"/>
              </a:rPr>
              <a:t>OPERATIONAL ESTIMATES &amp; SPECS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Inference Latency : </a:t>
            </a:r>
            <a:r>
              <a:rPr sz="850">
                <a:solidFill>
                  <a:srgbClr val="1E293B"/>
                </a:solidFill>
                <a:latin typeface="Calibri"/>
              </a:rPr>
              <a:t>1.1s for full hybrid classical-quantum consensus prediction.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Batch Triage Speed : </a:t>
            </a:r>
            <a:r>
              <a:rPr sz="850">
                <a:solidFill>
                  <a:srgbClr val="1E293B"/>
                </a:solidFill>
                <a:latin typeface="Calibri"/>
              </a:rPr>
              <a:t>12s to process 500 patient records across rural village cohorts (~10,000+/hr).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Test Verification : </a:t>
            </a:r>
            <a:r>
              <a:rPr sz="850">
                <a:solidFill>
                  <a:srgbClr val="1E293B"/>
                </a:solidFill>
                <a:latin typeface="Calibri"/>
              </a:rPr>
              <a:t>50 / 50 automated tests passing across classical, quantum, and API modules (293s).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Quantum Compression : </a:t>
            </a:r>
            <a:r>
              <a:rPr sz="850">
                <a:solidFill>
                  <a:srgbClr val="1E293B"/>
                </a:solidFill>
                <a:latin typeface="Calibri"/>
              </a:rPr>
              <a:t>24 variational parameters replace 18,000 classical tree nodes in 64-D Hilbert space.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Zero Hardware Barrier : </a:t>
            </a:r>
            <a:r>
              <a:rPr sz="850">
                <a:solidFill>
                  <a:srgbClr val="1E293B"/>
                </a:solidFill>
                <a:latin typeface="Calibri"/>
              </a:rPr>
              <a:t>Runs on standard ₹25,000 PHC laptop; ₹0 incremental infrastructure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1750" b="1"/>
              <a:t>FEASIBILITY AND VIABILITY: Technical, Clinical &amp; Economic Sustainability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Code 404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17410" descr="feasibility_viability_slid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15568"/>
            <a:ext cx="10927080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1750" b="1"/>
              <a:t>IMPACT AND BENEFITS: Healthcare Transformation &amp; Benchmark Comparison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Code 404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685800" y="1115568"/>
            <a:ext cx="5029200" cy="2788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87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sz="1000">
                <a:solidFill>
                  <a:srgbClr val="1877F2"/>
                </a:solidFill>
                <a:latin typeface="Calibri"/>
              </a:rPr>
              <a:t>STAKEHOLDER TRANSFORMATION (PERSONAS &amp; REAL IMPACT)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1877F2"/>
                </a:solidFill>
                <a:latin typeface="Calibri"/>
              </a:rPr>
              <a:t>For OPD &amp; Primary Care Doctors : </a:t>
            </a:r>
            <a:r>
              <a:rPr sz="850">
                <a:solidFill>
                  <a:srgbClr val="1E293B"/>
                </a:solidFill>
                <a:latin typeface="Calibri"/>
              </a:rPr>
              <a:t>Instant 1.1s calibrated second opinion with SHAP biomarker attributions, eliminating diagnostic delay and clinical guessing.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D97706"/>
                </a:solidFill>
                <a:latin typeface="Calibri"/>
              </a:rPr>
              <a:t>For ASHA &amp; ANM Field Workers : </a:t>
            </a:r>
            <a:r>
              <a:rPr sz="850">
                <a:solidFill>
                  <a:srgbClr val="1E293B"/>
                </a:solidFill>
                <a:latin typeface="Calibri"/>
              </a:rPr>
              <a:t>1-click batch triage for village screening camps (500 records in 12s), exporting prioritized follow-up rosters without internet.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59669"/>
                </a:solidFill>
                <a:latin typeface="Calibri"/>
              </a:rPr>
              <a:t>For National Health Mission &amp; India : </a:t>
            </a:r>
            <a:r>
              <a:rPr sz="850">
                <a:solidFill>
                  <a:srgbClr val="1E293B"/>
                </a:solidFill>
                <a:latin typeface="Calibri"/>
              </a:rPr>
              <a:t>40%–60% reduction in catastrophic OOP spending, ₹50,000 Cr national savings, full ABDM digital health compliance.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19">
                <a:solidFill>
                  <a:srgbClr val="0A2540"/>
                </a:solidFill>
                <a:latin typeface="Calibri"/>
              </a:rPr>
              <a:t>Core Breakthrough Metrics : </a:t>
            </a:r>
            <a:r>
              <a:rPr sz="819">
                <a:solidFill>
                  <a:srgbClr val="1E293B"/>
                </a:solidFill>
                <a:latin typeface="Calibri"/>
              </a:rPr>
              <a:t>3–5 Years Pre-Symptomatic Detection  •  40%–60% OOP Savings  •  100% Audit-Proof</a:t>
            </a:r>
          </a:p>
        </p:txBody>
      </p:sp>
      <p:pic>
        <p:nvPicPr>
          <p:cNvPr id="17412" name="Picture 17411" descr="feature_comparison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115568"/>
            <a:ext cx="5623560" cy="2788920"/>
          </a:xfrm>
          <a:prstGeom prst="rect">
            <a:avLst/>
          </a:prstGeom>
        </p:spPr>
      </p:pic>
      <p:sp>
        <p:nvSpPr>
          <p:cNvPr id="17413" name="Rounded Rectangle 17412"/>
          <p:cNvSpPr/>
          <p:nvPr/>
        </p:nvSpPr>
        <p:spPr>
          <a:xfrm>
            <a:off x="685800" y="4069080"/>
            <a:ext cx="3474720" cy="22402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187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sz="1000">
                <a:solidFill>
                  <a:srgbClr val="1877F2"/>
                </a:solidFill>
                <a:latin typeface="Calibri"/>
              </a:rPr>
              <a:t>MODE 1: 1:1 CLINICAL INFERENCE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For : </a:t>
            </a:r>
            <a:r>
              <a:rPr sz="850">
                <a:solidFill>
                  <a:srgbClr val="1E293B"/>
                </a:solidFill>
                <a:latin typeface="Calibri"/>
              </a:rPr>
              <a:t>Individual OPD outpatient consultations.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Process : </a:t>
            </a:r>
            <a:r>
              <a:rPr sz="850">
                <a:solidFill>
                  <a:srgbClr val="1E293B"/>
                </a:solidFill>
                <a:latin typeface="Calibri"/>
              </a:rPr>
              <a:t>Biomarker input → 60/40 consensus → Risk gauge.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Latency : </a:t>
            </a:r>
            <a:r>
              <a:rPr sz="850">
                <a:solidFill>
                  <a:srgbClr val="1E293B"/>
                </a:solidFill>
                <a:latin typeface="Calibri"/>
              </a:rPr>
              <a:t>1.1s  •  98%+ Calibrated  •  Signed CDS PDF.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Best For : </a:t>
            </a:r>
            <a:r>
              <a:rPr sz="850">
                <a:solidFill>
                  <a:srgbClr val="1E293B"/>
                </a:solidFill>
                <a:latin typeface="Calibri"/>
              </a:rPr>
              <a:t>Primary care doctors &amp; hospital OPD clinics.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370832" y="4069080"/>
            <a:ext cx="3474720" cy="22402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sz="1000">
                <a:solidFill>
                  <a:srgbClr val="D97706"/>
                </a:solidFill>
                <a:latin typeface="Calibri"/>
              </a:rPr>
              <a:t>MODE 2: POPULATION BATCH TRIAGE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For : </a:t>
            </a:r>
            <a:r>
              <a:rPr sz="850">
                <a:solidFill>
                  <a:srgbClr val="1E293B"/>
                </a:solidFill>
                <a:latin typeface="Calibri"/>
              </a:rPr>
              <a:t>Village-level health screening camps.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Process : </a:t>
            </a:r>
            <a:r>
              <a:rPr sz="850">
                <a:solidFill>
                  <a:srgbClr val="1E293B"/>
                </a:solidFill>
                <a:latin typeface="Calibri"/>
              </a:rPr>
              <a:t>Upload cohort CSV → Vectorized triage → Risk tags.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Latency : </a:t>
            </a:r>
            <a:r>
              <a:rPr sz="850">
                <a:solidFill>
                  <a:srgbClr val="1E293B"/>
                </a:solidFill>
                <a:latin typeface="Calibri"/>
              </a:rPr>
              <a:t>12s for 500 patients (~10,000+ per hour).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Best For : </a:t>
            </a:r>
            <a:r>
              <a:rPr sz="850">
                <a:solidFill>
                  <a:srgbClr val="1E293B"/>
                </a:solidFill>
                <a:latin typeface="Calibri"/>
              </a:rPr>
              <a:t>ASHA &amp; ANM community health workers.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046720" y="4069080"/>
            <a:ext cx="3474720" cy="2240280"/>
          </a:xfrm>
          <a:prstGeom prst="roundRect">
            <a:avLst/>
          </a:prstGeom>
          <a:solidFill>
            <a:srgbClr val="FFF1F2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sz="1000">
                <a:solidFill>
                  <a:srgbClr val="E11D48"/>
                </a:solidFill>
                <a:latin typeface="Calibri"/>
              </a:rPr>
              <a:t>MODE 3: SAFETY ABSTENTION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For : </a:t>
            </a:r>
            <a:r>
              <a:rPr sz="850">
                <a:solidFill>
                  <a:srgbClr val="1E293B"/>
                </a:solidFill>
                <a:latin typeface="Calibri"/>
              </a:rPr>
              <a:t>Corrupted inputs, FPG = 0, or model conflict (Δ&gt;0.45).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Process : </a:t>
            </a:r>
            <a:r>
              <a:rPr sz="850">
                <a:solidFill>
                  <a:srgbClr val="1E293B"/>
                </a:solidFill>
                <a:latin typeface="Calibri"/>
              </a:rPr>
              <a:t>Instant refusal → Diagnostic flag → Re-test alert.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Latency : </a:t>
            </a:r>
            <a:r>
              <a:rPr sz="850">
                <a:solidFill>
                  <a:srgbClr val="1E293B"/>
                </a:solidFill>
                <a:latin typeface="Calibri"/>
              </a:rPr>
              <a:t>2ms  •  100% Zero AI Hallucination Guarantee.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Best For : </a:t>
            </a:r>
            <a:r>
              <a:rPr sz="850">
                <a:solidFill>
                  <a:srgbClr val="1E293B"/>
                </a:solidFill>
                <a:latin typeface="Calibri"/>
              </a:rPr>
              <a:t>Medico-legal safety &amp; patient protection.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1750" b="1"/>
              <a:t>RESEARCH AND REFERENCES: Scientific Literature &amp; Functional Prototype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Code 404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685800" y="1115568"/>
            <a:ext cx="10835640" cy="16916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87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sz="1000">
                <a:solidFill>
                  <a:srgbClr val="1877F2"/>
                </a:solidFill>
                <a:latin typeface="Calibri"/>
              </a:rPr>
              <a:t>SCIENTIFIC LITERATURE &amp; CLINICAL STANDARDS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ICMR-INDIAB 2023 Study : </a:t>
            </a:r>
            <a:r>
              <a:rPr sz="850">
                <a:solidFill>
                  <a:srgbClr val="1E293B"/>
                </a:solidFill>
                <a:latin typeface="Calibri"/>
              </a:rPr>
              <a:t>Lancet Diabetes &amp; Endocrinology: Epidemiological profiling of 101M diabetics and South Asian phenotype thresholds.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Dryad / BMJ Open Cohort : </a:t>
            </a:r>
            <a:r>
              <a:rPr sz="850">
                <a:solidFill>
                  <a:srgbClr val="1E293B"/>
                </a:solidFill>
                <a:latin typeface="Calibri"/>
              </a:rPr>
              <a:t>Chen et al. (2018): 211,833 authentic patient records for incident diabetes risk prediction (zero toy datasets).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Quantum Machine Learning : </a:t>
            </a:r>
            <a:r>
              <a:rPr sz="850">
                <a:solidFill>
                  <a:srgbClr val="1E293B"/>
                </a:solidFill>
                <a:latin typeface="Calibri"/>
              </a:rPr>
              <a:t>Schuld et al. (2021) 'Supervised Quantum Learning Models' &amp; Xanadu PennyLane VQC architecture documentation.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Clinical AI Governance : </a:t>
            </a:r>
            <a:r>
              <a:rPr sz="850">
                <a:solidFill>
                  <a:srgbClr val="1E293B"/>
                </a:solidFill>
                <a:latin typeface="Calibri"/>
              </a:rPr>
              <a:t>WHO Guidance on Ethics and Governance of AI for Health &amp; IEEE Standards on Clinical Decision Support.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85800" y="2926080"/>
            <a:ext cx="5321808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sz="1000">
                <a:solidFill>
                  <a:srgbClr val="64748B"/>
                </a:solidFill>
                <a:latin typeface="Calibri"/>
              </a:rPr>
              <a:t>SOLUTIONS ALREADY EXIST (COMMERCIAL SYSTEMS)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Commercial AI : </a:t>
            </a:r>
            <a:r>
              <a:rPr sz="850">
                <a:solidFill>
                  <a:srgbClr val="1E293B"/>
                </a:solidFill>
                <a:latin typeface="Calibri"/>
              </a:rPr>
              <a:t>Epic AI, IBM Watson Health, Aidoc, Qure.ai.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High Cost &amp; Compute : </a:t>
            </a:r>
            <a:r>
              <a:rPr sz="850">
                <a:solidFill>
                  <a:srgbClr val="1E293B"/>
                </a:solidFill>
                <a:latin typeface="Calibri"/>
              </a:rPr>
              <a:t>Require expensive proprietary licenses and ₹10L+ GPU servers.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Closed Box : </a:t>
            </a:r>
            <a:r>
              <a:rPr sz="850">
                <a:solidFill>
                  <a:srgbClr val="1E293B"/>
                </a:solidFill>
                <a:latin typeface="Calibri"/>
              </a:rPr>
              <a:t>Uncalibrated black-box models with zero quantum parameter compression.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Online Only : </a:t>
            </a:r>
            <a:r>
              <a:rPr sz="850">
                <a:solidFill>
                  <a:srgbClr val="1E293B"/>
                </a:solidFill>
                <a:latin typeface="Calibri"/>
              </a:rPr>
              <a:t>Cannot operate offline in rural PHCs during network outages.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99632" y="2926080"/>
            <a:ext cx="5321808" cy="16916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sz="1000">
                <a:solidFill>
                  <a:srgbClr val="059669"/>
                </a:solidFill>
                <a:latin typeface="Calibri"/>
              </a:rPr>
              <a:t>OUR SOLUTION STANDS OUT (QUANTUMHEALTH AI)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99.88% Compression : </a:t>
            </a:r>
            <a:r>
              <a:rPr sz="850">
                <a:solidFill>
                  <a:srgbClr val="1E293B"/>
                </a:solidFill>
                <a:latin typeface="Calibri"/>
              </a:rPr>
              <a:t>24 quantum parameters replace 18,000 tree nodes in 64-D Hilbert space.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Zero Hardware Cost : </a:t>
            </a:r>
            <a:r>
              <a:rPr sz="850">
                <a:solidFill>
                  <a:srgbClr val="1E293B"/>
                </a:solidFill>
                <a:latin typeface="Calibri"/>
              </a:rPr>
              <a:t>Runs offline on standard ₹25,000 laptops at Primary Health Centres.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Safety Abstention : </a:t>
            </a:r>
            <a:r>
              <a:rPr sz="850">
                <a:solidFill>
                  <a:srgbClr val="1E293B"/>
                </a:solidFill>
                <a:latin typeface="Calibri"/>
              </a:rPr>
              <a:t>Refuses to guess on invalid sentinels (FPG=0); 100% safety containment.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ICMR-INDIAB Tuned : </a:t>
            </a:r>
            <a:r>
              <a:rPr sz="850">
                <a:solidFill>
                  <a:srgbClr val="1E293B"/>
                </a:solidFill>
                <a:latin typeface="Calibri"/>
              </a:rPr>
              <a:t>Recalibrated specifically for Indian Thin-Fat Phenotype cutoffs.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85800" y="4754880"/>
            <a:ext cx="594360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sz="1000">
                <a:solidFill>
                  <a:srgbClr val="0A2540"/>
                </a:solidFill>
                <a:latin typeface="Calibri"/>
              </a:rPr>
              <a:t>PROJECT RESOURCES (FULLY FUNCTIONAL PROTOTYPE)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Interactive Web Prototype : </a:t>
            </a:r>
            <a:r>
              <a:rPr sz="850">
                <a:solidFill>
                  <a:srgbClr val="1E293B"/>
                </a:solidFill>
                <a:latin typeface="Calibri"/>
              </a:rPr>
              <a:t>http://localhost:5173 — Full multi-disease risk analysis &amp; batch triage.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Backend API &amp; Swagger Docs : </a:t>
            </a:r>
            <a:r>
              <a:rPr sz="850">
                <a:solidFill>
                  <a:srgbClr val="1E293B"/>
                </a:solidFill>
                <a:latin typeface="Calibri"/>
              </a:rPr>
              <a:t>http://127.0.0.1:8000/docs — 10 REST endpoints with automated Pydantic schemas.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Automated Verification Suite : </a:t>
            </a:r>
            <a:r>
              <a:rPr sz="850">
                <a:solidFill>
                  <a:srgbClr val="1E293B"/>
                </a:solidFill>
                <a:latin typeface="Calibri"/>
              </a:rPr>
              <a:t>50 / 50 automated pytest tests passing across all clinical modules (293s).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u="none" sz="850">
                <a:solidFill>
                  <a:srgbClr val="0A2540"/>
                </a:solidFill>
                <a:latin typeface="Calibri"/>
              </a:rPr>
              <a:t>Signed Clinical Decision PDF : </a:t>
            </a:r>
            <a:r>
              <a:rPr sz="850">
                <a:solidFill>
                  <a:srgbClr val="1E293B"/>
                </a:solidFill>
                <a:latin typeface="Calibri"/>
              </a:rPr>
              <a:t>SHA-256 tamper-evident digital audit certificates with QR verification.</a:t>
            </a:r>
          </a:p>
        </p:txBody>
      </p:sp>
      <p:pic>
        <p:nvPicPr>
          <p:cNvPr id="17415" name="Picture 17414" descr="ui_mockups_slid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754880"/>
            <a:ext cx="4709160" cy="169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Ahmad Ali</cp:lastModifiedBy>
  <cp:revision>149</cp:revision>
  <dcterms:created xsi:type="dcterms:W3CDTF">2013-12-12T18:46:50Z</dcterms:created>
  <dcterms:modified xsi:type="dcterms:W3CDTF">2026-08-26T06:52:29Z</dcterms:modified>
  <cp:category/>
</cp:coreProperties>
</file>