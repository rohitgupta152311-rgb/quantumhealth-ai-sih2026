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Sheet1!$A$2:$A$9</c:f>
              <c:strCache>
                <c:ptCount val="8"/>
                <c:pt idx="0">
                  <c:v>SVM</c:v>
                </c:pt>
                <c:pt idx="1">
                  <c:v>HistGBM</c:v>
                </c:pt>
                <c:pt idx="2">
                  <c:v>XGBoost</c:v>
                </c:pt>
                <c:pt idx="3">
                  <c:v>LogReg</c:v>
                </c:pt>
                <c:pt idx="4">
                  <c:v>RandForest</c:v>
                </c:pt>
                <c:pt idx="5">
                  <c:v>MLP (DL)</c:v>
                </c:pt>
                <c:pt idx="6">
                  <c:v>VQC (6Q)</c:v>
                </c:pt>
                <c:pt idx="7">
                  <c:v>Hybrid (AD)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83.6</c:v>
                </c:pt>
                <c:pt idx="1">
                  <c:v>86.9</c:v>
                </c:pt>
                <c:pt idx="2">
                  <c:v>86.9</c:v>
                </c:pt>
                <c:pt idx="3">
                  <c:v>88.5</c:v>
                </c:pt>
                <c:pt idx="4">
                  <c:v>90.2</c:v>
                </c:pt>
                <c:pt idx="5">
                  <c:v>80.3</c:v>
                </c:pt>
                <c:pt idx="6">
                  <c:v>54.1</c:v>
                </c:pt>
                <c:pt idx="7">
                  <c:v>91.8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 (%)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Sheet1!$A$2:$A$9</c:f>
              <c:strCache>
                <c:ptCount val="8"/>
                <c:pt idx="0">
                  <c:v>SVM</c:v>
                </c:pt>
                <c:pt idx="1">
                  <c:v>HistGBM</c:v>
                </c:pt>
                <c:pt idx="2">
                  <c:v>XGBoost</c:v>
                </c:pt>
                <c:pt idx="3">
                  <c:v>LogReg</c:v>
                </c:pt>
                <c:pt idx="4">
                  <c:v>RandForest</c:v>
                </c:pt>
                <c:pt idx="5">
                  <c:v>MLP (DL)</c:v>
                </c:pt>
                <c:pt idx="6">
                  <c:v>VQC (6Q)</c:v>
                </c:pt>
                <c:pt idx="7">
                  <c:v>Hybrid (AD)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92.6</c:v>
                </c:pt>
                <c:pt idx="1">
                  <c:v>94.6</c:v>
                </c:pt>
                <c:pt idx="2">
                  <c:v>95.5</c:v>
                </c:pt>
                <c:pt idx="3">
                  <c:v>95.0</c:v>
                </c:pt>
                <c:pt idx="4">
                  <c:v>94.7</c:v>
                </c:pt>
                <c:pt idx="5">
                  <c:v>92.3</c:v>
                </c:pt>
                <c:pt idx="6">
                  <c:v>60.8</c:v>
                </c:pt>
                <c:pt idx="7">
                  <c:v>94.3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2 outlines our core thesis. Existing clinical AI requires expensive GPU infrastructure and operates as opaque black boxes. ArogyaDristi combines classical tree ensembles with a 24-parameter variational quantum circuit to provide explainable, sub-second disease triage on routine primary health clinic laptops.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3 details ArogyaDristi's technical pipeline and memory specifications. We employ an explicit 50-30-20 split to train classical and quantum models independently and evaluate on held-out test data. Our measured memory profile is just 239.9 MB RAM and under 120 MB disk, enabling full offline deployment on low-cost hardware.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4 presents our rigorous empirical benchmarks evaluating all 5 classical models (Random Forest, Logistic Regression, XGBoost, Gradient Boosting, SVM), Deep Learning MLP, and PennyLane 6-qubit VQC on the exact same 20% held-out test split. ArogyaDristi's hybrid architecture achieves 91.8% accuracy and 87.9% specificity, outperforming all 5 classical algorithms and deep learning baseline while maintaining complete edge deployability with 24 quantum parameters.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5 illustrates ArogyaDristi clinical deployment across three healthcare tiers: primary OPD, village ASHA screening camps, and district health management. Every prediction pairs simple risk levels with rigorous technical metrics like SHAP biomarker attributions and SHA-256 tamper-evident verification.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6 grounds ArogyaDristi in peer-reviewed quantum and medical literature, including ICMR guidelines and Dryad cohorts. Our complete working prototype is fully open-source with 70 automated tests (all passing), deployed live, and scannable via the QR code for immediate evaluation by the jury.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judges, we represent Team Code (404) from NIT Nagaland presenting Problem Statement 26139. Our software, ArogyaDristi, is a hybrid quantum-classical machine learning platform engineered for early chronic disease risk assessment using routine lab biomarkers.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hyperlink" Target="https://quantumhealth-ai.onrender.com" TargetMode="External"/><Relationship Id="rId8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jpg"/><Relationship Id="rId6" Type="http://schemas.openxmlformats.org/officeDocument/2006/relationships/chart" Target="../charts/chart1.xml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drive.google.com/file/d/19Lca-tadM5dZFBcUEMo0F8dQ8uH7gvQQ/view?usp=drivesdk" TargetMode="External"/><Relationship Id="rId6" Type="http://schemas.openxmlformats.org/officeDocument/2006/relationships/hyperlink" Target="https://drive.google.com/drive/folders/1GU7bl1OHZ-vCgxAe0if3Jsjf2NYQ6S8T" TargetMode="External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Relationship Id="rId10" Type="http://schemas.openxmlformats.org/officeDocument/2006/relationships/image" Target="../media/image11.jpg"/><Relationship Id="rId11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drive.google.com/drive/folders/1GU7bl1OHZ-vCgxAe0if3Jsjf2NYQ6S8T" TargetMode="External"/><Relationship Id="rId6" Type="http://schemas.openxmlformats.org/officeDocument/2006/relationships/hyperlink" Target="https://drive.google.com/file/d/19Lca-tadM5dZFBcUEMo0F8dQ8uH7gvQQ/view?usp=drivesdk" TargetMode="External"/><Relationship Id="rId7" Type="http://schemas.openxmlformats.org/officeDocument/2006/relationships/hyperlink" Target="https://quantumhealth-ai.onrender.com" TargetMode="External"/><Relationship Id="rId8" Type="http://schemas.openxmlformats.org/officeDocument/2006/relationships/hyperlink" Target="https://quantumhealth-ai.onrender.com/docs" TargetMode="External"/><Relationship Id="rId9" Type="http://schemas.openxmlformats.org/officeDocument/2006/relationships/hyperlink" Target="https://github.com/rohitgupta152311-rgb/QuantumHealth-AI-SIH2026" TargetMode="External"/><Relationship Id="rId10" Type="http://schemas.openxmlformats.org/officeDocument/2006/relationships/image" Target="../media/image12.png"/><Relationship Id="rId11" Type="http://schemas.openxmlformats.org/officeDocument/2006/relationships/hyperlink" Target="https://doi.org/10.1103/PRXQuantum.2.040337" TargetMode="External"/><Relationship Id="rId12" Type="http://schemas.openxmlformats.org/officeDocument/2006/relationships/hyperlink" Target="https://doi.org/10.5061/dryad.ft8750v" TargetMode="External"/><Relationship Id="rId13" Type="http://schemas.openxmlformats.org/officeDocument/2006/relationships/hyperlink" Target="https://doi.org/10.1016/S2213-8587(23)00119-5" TargetMode="External"/><Relationship Id="rId14" Type="http://schemas.openxmlformats.org/officeDocument/2006/relationships/hyperlink" Target="https://doi.org/10.1038/s42254-021-00348-9" TargetMode="External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1005840"/>
            <a:ext cx="9601200" cy="640080"/>
          </a:xfrm>
        </p:spPr>
        <p:txBody>
          <a:bodyPr wrap="square"/>
          <a:lstStyle/>
          <a:p/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9184" y="137160"/>
            <a:ext cx="9601200" cy="1005840"/>
          </a:xfrm>
        </p:spPr>
        <p:txBody>
          <a:bodyPr wrap="square"/>
          <a:lstStyle/>
          <a:p>
            <a:pPr algn="ctr">
              <a:defRPr sz="3000" b="1">
                <a:solidFill>
                  <a:srgbClr val="0A2540"/>
                </a:solidFill>
                <a:latin typeface="Calibri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8" name="Picture 37" descr="patched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4" y="9144"/>
            <a:ext cx="2212848" cy="11247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8640" y="1965960"/>
            <a:ext cx="62179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02920" y="1115568"/>
            <a:ext cx="5806440" cy="5102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1243584"/>
            <a:ext cx="553212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★ SMART INDIA HACKATHON 2026 • PROBLEM STATEMENT #26139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1691640"/>
            <a:ext cx="5532120" cy="10058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r>
              <a:rPr sz="2800" b="1">
                <a:solidFill>
                  <a:srgbClr val="0A2540"/>
                </a:solidFill>
                <a:latin typeface="Calibri"/>
              </a:rPr>
              <a:t>ArogyaDristi </a:t>
            </a:r>
            <a:r>
              <a:rPr sz="2000" b="1">
                <a:solidFill>
                  <a:srgbClr val="0E7490"/>
                </a:solidFill>
                <a:latin typeface="Calibri"/>
              </a:rPr>
              <a:t>(आरोग्यदृष्टि)</a:t>
            </a:r>
          </a:p>
          <a:p>
            <a:pPr algn="l">
              <a:spcAft>
                <a:spcPts val="0"/>
              </a:spcAft>
              <a:defRPr sz="1250" b="1">
                <a:solidFill>
                  <a:srgbClr val="2563EB"/>
                </a:solidFill>
                <a:latin typeface="Calibri"/>
              </a:defRPr>
            </a:pPr>
            <a:r>
              <a:t>"Dual-Track Quantum-Classical Platform for Early Chronic Disease Detection"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2761488"/>
            <a:ext cx="5532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100"/>
              </a:spcAft>
              <a:defRPr sz="950" b="1">
                <a:solidFill>
                  <a:srgbClr val="475569"/>
                </a:solidFill>
                <a:latin typeface="Calibri"/>
              </a:defRPr>
            </a:pPr>
            <a:r>
              <a:t>PROBLEM STATEMENT TITLE</a:t>
            </a:r>
          </a:p>
          <a:p>
            <a:pPr algn="l">
              <a:spcAft>
                <a:spcPts val="0"/>
              </a:spcAft>
              <a:defRPr sz="1250" b="1">
                <a:solidFill>
                  <a:srgbClr val="0A2540"/>
                </a:solidFill>
                <a:latin typeface="Calibri"/>
              </a:defRPr>
            </a:pPr>
            <a:r>
              <a:t>Hybrid Quantum Machine Learning Platform for Early Disease Detection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3547872"/>
            <a:ext cx="5532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100"/>
              </a:spcAft>
              <a:defRPr sz="950" b="1">
                <a:solidFill>
                  <a:srgbClr val="475569"/>
                </a:solidFill>
                <a:latin typeface="Calibri"/>
              </a:defRPr>
            </a:pPr>
            <a:r>
              <a:t>THEME &amp; CATEGORY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MedTech / BioTech / HealthTech    |    Category: Software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261104"/>
            <a:ext cx="5532120" cy="7315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1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TEAM &amp; INSTITUTION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A2540"/>
                </a:solidFill>
                <a:latin typeface="Calibri"/>
              </a:defRPr>
            </a:pPr>
            <a:r>
              <a:t>Team Code (404)  •  National Institute of Technology Nagaland</a:t>
            </a:r>
          </a:p>
        </p:txBody>
      </p:sp>
      <p:pic>
        <p:nvPicPr>
          <p:cNvPr id="46" name="Picture 45" descr="code404_logo_horizon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38928"/>
            <a:ext cx="2468880" cy="5486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246120" y="5138928"/>
            <a:ext cx="292608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Catching disease risk early —</a:t>
            </a:r>
            <a:br/>
            <a:r>
              <a:t>with quantum-enhanced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91440"/>
            <a:ext cx="8046720" cy="777240"/>
          </a:xfrm>
        </p:spPr>
        <p:txBody>
          <a:bodyPr/>
          <a:lstStyle/>
          <a:p>
            <a:pPr eaLnBrk="1" hangingPunct="1">
              <a:defRPr sz="2800" b="1">
                <a:solidFill>
                  <a:srgbClr val="0A2540"/>
                </a:solidFill>
                <a:latin typeface="Calibri"/>
              </a:defRPr>
            </a:pPr>
            <a:r>
              <a:t>IDEA: HYBRID QUANTUM-CLASSICAL DISEASE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@Code (404)</a:t>
            </a:r>
          </a:p>
        </p:txBody>
      </p:sp>
      <p:pic>
        <p:nvPicPr>
          <p:cNvPr id="15363" name="Picture 15362" descr="patched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6576"/>
            <a:ext cx="1618488" cy="822960"/>
          </a:xfrm>
          <a:prstGeom prst="rect">
            <a:avLst/>
          </a:prstGeom>
        </p:spPr>
      </p:pic>
      <p:sp>
        <p:nvSpPr>
          <p:cNvPr id="15364" name="Rounded Rectangle 15363"/>
          <p:cNvSpPr/>
          <p:nvPr/>
        </p:nvSpPr>
        <p:spPr>
          <a:xfrm>
            <a:off x="594360" y="960120"/>
            <a:ext cx="11009376" cy="65836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700" b="1">
                <a:solidFill>
                  <a:srgbClr val="B91C1C"/>
                </a:solidFill>
                <a:latin typeface="Calibri"/>
              </a:defRPr>
            </a:pPr>
            <a:r>
              <a:t>⚠ 54% of diabetes in India is undiagnosed — 101 Million people.  Early detection could save ₹2.6 Lakh Crore annually.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— International Diabetes Federation Atlas, 2024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94360" y="1691640"/>
            <a:ext cx="3547872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1400" b="1">
                <a:solidFill>
                  <a:srgbClr val="0A2540"/>
                </a:solidFill>
                <a:latin typeface="Calibri"/>
              </a:defRPr>
            </a:pPr>
            <a:r>
              <a:t>211,833 Records</a:t>
            </a:r>
          </a:p>
          <a:p>
            <a:pPr algn="ctr">
              <a:spcAft>
                <a:spcPts val="0"/>
              </a:spcAft>
              <a:defRPr sz="1050" b="0">
                <a:solidFill>
                  <a:srgbClr val="475569"/>
                </a:solidFill>
                <a:latin typeface="Calibri"/>
              </a:defRPr>
            </a:pPr>
            <a:r>
              <a:t>Validated Cohort (Dryad/BMJ Open)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325112" y="1691640"/>
            <a:ext cx="3547872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91.8% Hybrid Accuracy</a:t>
            </a:r>
          </a:p>
          <a:p>
            <a:pPr algn="ctr">
              <a:spcAft>
                <a:spcPts val="0"/>
              </a:spcAft>
              <a:defRPr sz="1050" b="0">
                <a:solidFill>
                  <a:srgbClr val="475569"/>
                </a:solidFill>
                <a:latin typeface="Calibri"/>
              </a:defRPr>
            </a:pPr>
            <a:r>
              <a:t>+1.6% Gain Over Classical RF Alone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8055864" y="1691640"/>
            <a:ext cx="3547872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1.1s API Latency</a:t>
            </a:r>
          </a:p>
          <a:p>
            <a:pPr algn="ctr">
              <a:spcAft>
                <a:spcPts val="0"/>
              </a:spcAft>
              <a:defRPr sz="1050" b="0">
                <a:solidFill>
                  <a:srgbClr val="475569"/>
                </a:solidFill>
                <a:latin typeface="Calibri"/>
              </a:defRPr>
            </a:pPr>
            <a:r>
              <a:t>Runs on ₹25K Laptop • Zero GPU Needed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94360" y="2249424"/>
            <a:ext cx="354787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  <a:defRPr sz="1800" b="1">
                <a:solidFill>
                  <a:srgbClr val="B91C1C"/>
                </a:solidFill>
                <a:latin typeface="Calibri"/>
              </a:defRPr>
            </a:pPr>
            <a:r>
              <a:t>The Problem (Why This Matters)</a:t>
            </a:r>
          </a:p>
          <a:p>
            <a:pPr>
              <a:spcAft>
                <a:spcPts val="200"/>
              </a:spcAft>
              <a:defRPr>
                <a:latin typeface="Calibri"/>
              </a:defRPr>
            </a:pPr>
            <a:r>
              <a:rPr sz="1400" b="1">
                <a:solidFill>
                  <a:srgbClr val="2563EB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1 doctor per 1,511 patients</a:t>
            </a:r>
            <a:r>
              <a:rPr sz="1400" b="0">
                <a:solidFill>
                  <a:srgbClr val="475569"/>
                </a:solidFill>
                <a:latin typeface="Calibri"/>
              </a:rPr>
              <a:t> (WHO recommends 1:1,000; India is 51% short)</a:t>
            </a:r>
          </a:p>
          <a:p>
            <a:pPr>
              <a:spcAft>
                <a:spcPts val="200"/>
              </a:spcAft>
              <a:defRPr>
                <a:latin typeface="Calibri"/>
              </a:defRPr>
            </a:pPr>
            <a:r>
              <a:rPr sz="1400" b="1">
                <a:solidFill>
                  <a:srgbClr val="2563EB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Current ML is single-model</a:t>
            </a:r>
            <a:r>
              <a:rPr sz="1400" b="0">
                <a:solidFill>
                  <a:srgbClr val="475569"/>
                </a:solidFill>
                <a:latin typeface="Calibri"/>
              </a:rPr>
              <a:t> (No uncertainty quantification or abstention)</a:t>
            </a:r>
          </a:p>
          <a:p>
            <a:pPr>
              <a:spcAft>
                <a:spcPts val="200"/>
              </a:spcAft>
              <a:defRPr>
                <a:latin typeface="Calibri"/>
              </a:defRPr>
            </a:pPr>
            <a:r>
              <a:rPr sz="1400" b="1">
                <a:solidFill>
                  <a:srgbClr val="2563EB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Late detection costs lives</a:t>
            </a:r>
            <a:r>
              <a:rPr sz="1400" b="0">
                <a:solidFill>
                  <a:srgbClr val="475569"/>
                </a:solidFill>
                <a:latin typeface="Calibri"/>
              </a:rPr>
              <a:t> (Routine blood tests miss subtle pattern interactions)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325112" y="2249424"/>
            <a:ext cx="354787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  <a:defRPr sz="1800" b="1">
                <a:solidFill>
                  <a:srgbClr val="059669"/>
                </a:solidFill>
                <a:latin typeface="Calibri"/>
              </a:defRPr>
            </a:pPr>
            <a:r>
              <a:t>Our Solution: ArogyaDristi</a:t>
            </a:r>
          </a:p>
          <a:p>
            <a:pPr>
              <a:spcAft>
                <a:spcPts val="200"/>
              </a:spcAft>
              <a:defRPr>
                <a:latin typeface="Calibri"/>
              </a:defRPr>
            </a:pPr>
            <a:r>
              <a:rPr sz="1400" b="1">
                <a:solidFill>
                  <a:srgbClr val="2563EB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Dual-track risk prediction</a:t>
            </a:r>
            <a:r>
              <a:rPr sz="1400" b="0">
                <a:solidFill>
                  <a:srgbClr val="475569"/>
                </a:solidFill>
                <a:latin typeface="Calibri"/>
              </a:rPr>
              <a:t> (Combines classical ensemble with quantum circuit)</a:t>
            </a:r>
          </a:p>
          <a:p>
            <a:pPr>
              <a:spcAft>
                <a:spcPts val="200"/>
              </a:spcAft>
              <a:defRPr>
                <a:latin typeface="Calibri"/>
              </a:defRPr>
            </a:pPr>
            <a:r>
              <a:rPr sz="1400" b="1">
                <a:solidFill>
                  <a:srgbClr val="2563EB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Runs on standard laptops</a:t>
            </a:r>
            <a:r>
              <a:rPr sz="1400" b="0">
                <a:solidFill>
                  <a:srgbClr val="475569"/>
                </a:solidFill>
                <a:latin typeface="Calibri"/>
              </a:rPr>
              <a:t> (Zero GPU required, operates fully offline)</a:t>
            </a:r>
          </a:p>
          <a:p>
            <a:pPr>
              <a:spcAft>
                <a:spcPts val="200"/>
              </a:spcAft>
              <a:defRPr>
                <a:latin typeface="Calibri"/>
              </a:defRPr>
            </a:pPr>
            <a:r>
              <a:rPr sz="1400" b="1">
                <a:solidFill>
                  <a:srgbClr val="2563EB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Explainable clinical outputs</a:t>
            </a:r>
            <a:r>
              <a:rPr sz="1400" b="0">
                <a:solidFill>
                  <a:srgbClr val="475569"/>
                </a:solidFill>
                <a:latin typeface="Calibri"/>
              </a:rPr>
              <a:t> (Local biomarker attributions via SHAP values)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8055864" y="2249424"/>
            <a:ext cx="354787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Key Innovation &amp; Novelty</a:t>
            </a:r>
          </a:p>
          <a:p>
            <a:pPr>
              <a:spcAft>
                <a:spcPts val="200"/>
              </a:spcAft>
              <a:defRPr>
                <a:latin typeface="Calibri"/>
              </a:defRPr>
            </a:pPr>
            <a:r>
              <a:rPr sz="1400" b="1">
                <a:solidFill>
                  <a:srgbClr val="2563EB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Evaluated on held-out test split</a:t>
            </a:r>
            <a:r>
              <a:rPr sz="1400" b="0">
                <a:solidFill>
                  <a:srgbClr val="475569"/>
                </a:solidFill>
                <a:latin typeface="Calibri"/>
              </a:rPr>
              <a:t> (Zero data leakage protocol)</a:t>
            </a:r>
          </a:p>
          <a:p>
            <a:pPr>
              <a:spcAft>
                <a:spcPts val="200"/>
              </a:spcAft>
              <a:defRPr>
                <a:latin typeface="Calibri"/>
              </a:defRPr>
            </a:pPr>
            <a:r>
              <a:rPr sz="1400" b="1">
                <a:solidFill>
                  <a:srgbClr val="2563EB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6-qubit circuit with 24 parameters</a:t>
            </a:r>
            <a:r>
              <a:rPr sz="1400" b="0">
                <a:solidFill>
                  <a:srgbClr val="475569"/>
                </a:solidFill>
                <a:latin typeface="Calibri"/>
              </a:rPr>
              <a:t> (Variational Quantum Classifier)</a:t>
            </a:r>
          </a:p>
          <a:p>
            <a:pPr>
              <a:spcAft>
                <a:spcPts val="200"/>
              </a:spcAft>
              <a:defRPr>
                <a:latin typeface="Calibri"/>
              </a:defRPr>
            </a:pPr>
            <a:r>
              <a:rPr sz="1400" b="1">
                <a:solidFill>
                  <a:srgbClr val="2563EB"/>
                </a:solidFill>
                <a:latin typeface="Calibri"/>
              </a:rPr>
              <a:t>• </a:t>
            </a:r>
            <a:r>
              <a:rPr sz="1400" b="1">
                <a:solidFill>
                  <a:srgbClr val="0F172A"/>
                </a:solidFill>
                <a:latin typeface="Calibri"/>
              </a:rPr>
              <a:t>Lightweight edge execution</a:t>
            </a:r>
            <a:r>
              <a:rPr sz="1400" b="0">
                <a:solidFill>
                  <a:srgbClr val="475569"/>
                </a:solidFill>
                <a:latin typeface="Calibri"/>
              </a:rPr>
              <a:t> (Runs in &lt;512 MB RAM without cloud)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594360" y="4370832"/>
            <a:ext cx="11009376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777240" y="4407408"/>
            <a:ext cx="10643616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475569"/>
                </a:solidFill>
                <a:latin typeface="Calibri"/>
              </a:defRPr>
            </a:pPr>
            <a:r>
              <a:t>How ArogyaDristi Works: Zero-Leakage End-to-End Clinical Flow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777240" y="4663440"/>
            <a:ext cx="2240280" cy="8961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01 | SCREEN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Routine 13 Lab Tests</a:t>
            </a:r>
            <a:br/>
            <a:r>
              <a:t>(Glucose, BP, Lipids)</a:t>
            </a:r>
          </a:p>
        </p:txBody>
      </p:sp>
      <p:sp>
        <p:nvSpPr>
          <p:cNvPr id="15374" name="Right Arrow 15373"/>
          <p:cNvSpPr/>
          <p:nvPr/>
        </p:nvSpPr>
        <p:spPr>
          <a:xfrm>
            <a:off x="3063240" y="4983480"/>
            <a:ext cx="36576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3483864" y="4663440"/>
            <a:ext cx="2240280" cy="89611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7C3AED"/>
                </a:solidFill>
                <a:latin typeface="Calibri"/>
              </a:defRPr>
            </a:pPr>
            <a:r>
              <a:t>02 | ENCODE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Quantum Angle Map</a:t>
            </a:r>
            <a:br/>
            <a:r>
              <a:t>[0, π] on 6 Qubits</a:t>
            </a:r>
          </a:p>
        </p:txBody>
      </p:sp>
      <p:sp>
        <p:nvSpPr>
          <p:cNvPr id="15376" name="Right Arrow 15375"/>
          <p:cNvSpPr/>
          <p:nvPr/>
        </p:nvSpPr>
        <p:spPr>
          <a:xfrm>
            <a:off x="5769864" y="4983480"/>
            <a:ext cx="36576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6190488" y="4663440"/>
            <a:ext cx="2240280" cy="896112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0E7490"/>
                </a:solidFill>
                <a:latin typeface="Calibri"/>
              </a:defRPr>
            </a:pPr>
            <a:r>
              <a:t>03 | RESOLVE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Dual-Track Inference</a:t>
            </a:r>
            <a:br/>
            <a:r>
              <a:t>5 ML + PennyLane VQC</a:t>
            </a:r>
          </a:p>
        </p:txBody>
      </p:sp>
      <p:sp>
        <p:nvSpPr>
          <p:cNvPr id="15378" name="Right Arrow 15377"/>
          <p:cNvSpPr/>
          <p:nvPr/>
        </p:nvSpPr>
        <p:spPr>
          <a:xfrm>
            <a:off x="8476488" y="4983480"/>
            <a:ext cx="36576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ounded Rectangle 15378"/>
          <p:cNvSpPr/>
          <p:nvPr/>
        </p:nvSpPr>
        <p:spPr>
          <a:xfrm>
            <a:off x="8897111" y="4663440"/>
            <a:ext cx="2240280" cy="89611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059669"/>
                </a:solidFill>
                <a:latin typeface="Calibri"/>
              </a:defRPr>
            </a:pPr>
            <a:r>
              <a:t>04 | TRIAGE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Calibrated Risk Tier</a:t>
            </a:r>
            <a:br/>
            <a:r>
              <a:t>SHAP Drivers &amp; Audit PDF</a:t>
            </a:r>
          </a:p>
        </p:txBody>
      </p:sp>
      <p:pic>
        <p:nvPicPr>
          <p:cNvPr id="15380" name="Picture 15379" descr="code404_logo_vert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73152"/>
            <a:ext cx="960120" cy="8138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91440"/>
            <a:ext cx="8046720" cy="777240"/>
          </a:xfrm>
        </p:spPr>
        <p:txBody>
          <a:bodyPr/>
          <a:lstStyle/>
          <a:p>
            <a:pPr eaLnBrk="1" hangingPunct="1">
              <a:defRPr sz="2800" b="1">
                <a:solidFill>
                  <a:srgbClr val="0A2540"/>
                </a:solidFill>
                <a:latin typeface="Calibri"/>
              </a:defRPr>
            </a:pPr>
            <a:r>
              <a:t>TECHNICAL APPROACH: ARCHITECTURE &amp; SPECIFICATIONS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@Code (404)</a:t>
            </a:r>
          </a:p>
        </p:txBody>
      </p:sp>
      <p:pic>
        <p:nvPicPr>
          <p:cNvPr id="17411" name="Picture 17410" descr="patched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6576"/>
            <a:ext cx="1618488" cy="82296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94360" y="932688"/>
            <a:ext cx="11009376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2540"/>
                </a:solidFill>
                <a:latin typeface="Calibri"/>
              </a:rPr>
              <a:t>ArogyaDristi Live Prototype: </a:t>
            </a:r>
            <a:r>
              <a:rPr sz="1300" b="1" u="sng">
                <a:solidFill>
                  <a:srgbClr val="2563EB"/>
                </a:solidFill>
                <a:latin typeface="Calibri"/>
                <a:hlinkClick r:id="rId7"/>
              </a:rPr>
              <a:t>click here to test live ↗</a:t>
            </a:r>
            <a:r>
              <a:rPr sz="1100" b="0">
                <a:solidFill>
                  <a:srgbClr val="059669"/>
                </a:solidFill>
                <a:latin typeface="Calibri"/>
              </a:rPr>
              <a:t>   |   Development Progress: 100% Functional  •  70/70 Backend Tests Passing  •  Vite Production Verified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353312"/>
            <a:ext cx="1874519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1300" b="1">
                <a:solidFill>
                  <a:srgbClr val="0A2540"/>
                </a:solidFill>
                <a:latin typeface="Calibri"/>
              </a:defRPr>
            </a:pPr>
            <a:r>
              <a:t>Patient Lab Biomarkers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13 routine features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2496312" y="1572768"/>
            <a:ext cx="27432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2834640" y="1353312"/>
            <a:ext cx="1874519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1300" b="1">
                <a:solidFill>
                  <a:srgbClr val="0A2540"/>
                </a:solidFill>
                <a:latin typeface="Calibri"/>
              </a:defRPr>
            </a:pPr>
            <a:r>
              <a:t>Data Preprocessing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Median impute &amp; angle map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4736592" y="1572768"/>
            <a:ext cx="27432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074920" y="1353312"/>
            <a:ext cx="1874519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1300" b="1">
                <a:solidFill>
                  <a:srgbClr val="0A2540"/>
                </a:solidFill>
                <a:latin typeface="Calibri"/>
              </a:defRPr>
            </a:pPr>
            <a:r>
              <a:t>50-30-20 Split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Zero leakage split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6976872" y="1572768"/>
            <a:ext cx="27432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7315200" y="1353312"/>
            <a:ext cx="1874519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1300" b="1">
                <a:solidFill>
                  <a:srgbClr val="0A2540"/>
                </a:solidFill>
                <a:latin typeface="Calibri"/>
              </a:defRPr>
            </a:pPr>
            <a:r>
              <a:t>Parallel ML &amp; VQC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Ensemble + 6-Qubit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9217152" y="1572768"/>
            <a:ext cx="27432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9555480" y="1353312"/>
            <a:ext cx="1874519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1300" b="1">
                <a:solidFill>
                  <a:srgbClr val="0A2540"/>
                </a:solidFill>
                <a:latin typeface="Calibri"/>
              </a:defRPr>
            </a:pPr>
            <a:r>
              <a:t>Calibrated Consensus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Platt score &amp; SHA-256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94360" y="2084831"/>
            <a:ext cx="342900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40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Data Preprocessing &amp; Filtering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Missing value handling</a:t>
            </a:r>
            <a:r>
              <a:rPr sz="1200" b="0">
                <a:solidFill>
                  <a:srgbClr val="475569"/>
                </a:solidFill>
                <a:latin typeface="Calibri"/>
              </a:rPr>
              <a:t> (Median imputation on clinical features)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Invalid value rejection</a:t>
            </a:r>
            <a:r>
              <a:rPr sz="1200" b="0">
                <a:solidFill>
                  <a:srgbClr val="475569"/>
                </a:solidFill>
                <a:latin typeface="Calibri"/>
              </a:rPr>
              <a:t> (Filters unphysiological values e.g. Glucose = 0)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Robust feature scaling</a:t>
            </a:r>
            <a:r>
              <a:rPr sz="1200" b="0">
                <a:solidFill>
                  <a:srgbClr val="475569"/>
                </a:solidFill>
                <a:latin typeface="Calibri"/>
              </a:rPr>
              <a:t> (Standardizes biomarker ranges for stability)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Quantum angle mapping</a:t>
            </a:r>
            <a:r>
              <a:rPr sz="1200" b="0">
                <a:solidFill>
                  <a:srgbClr val="475569"/>
                </a:solidFill>
                <a:latin typeface="Calibri"/>
              </a:rPr>
              <a:t> (Encodes scaled features into [0, π] rotation angles)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31520" y="4343400"/>
            <a:ext cx="3154680" cy="1234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20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ArogyaDristi Clinical Sentinel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• Ensures clean numerical inputs before quantum circuit.</a:t>
            </a:r>
            <a:br/>
            <a:r>
              <a:t>• Flags corrupt sensor readings with re-test directives.</a:t>
            </a:r>
            <a:br/>
            <a:r>
              <a:t>• 100% offline data integrity check.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160520" y="2084831"/>
            <a:ext cx="342900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4251960" y="2121408"/>
            <a:ext cx="324612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50-30-20 Partition Strategy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297680" y="2450592"/>
            <a:ext cx="31546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50% Classical Train: 6,660-node RF ensemble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297680" y="2816352"/>
            <a:ext cx="3154680" cy="32004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100" b="1">
                <a:solidFill>
                  <a:srgbClr val="7C3AED"/>
                </a:solidFill>
                <a:latin typeface="Calibri"/>
              </a:defRPr>
            </a:pPr>
            <a:r>
              <a:t>30% Quantum Train: 24 variational parameters (VQC)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297680" y="3182112"/>
            <a:ext cx="3154680" cy="320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100" b="1">
                <a:solidFill>
                  <a:srgbClr val="059669"/>
                </a:solidFill>
                <a:latin typeface="Calibri"/>
              </a:defRPr>
            </a:pPr>
            <a:r>
              <a:t>20% Locked Test: 61 unseen patients for unbiased CIs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251960" y="3639312"/>
            <a:ext cx="3246120" cy="19659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0A2540"/>
                </a:solidFill>
                <a:latin typeface="Calibri"/>
              </a:defRPr>
            </a:pPr>
            <a:r>
              <a:t>Why Variational Quantum Classifiers?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Parameter compactness</a:t>
            </a:r>
            <a:r>
              <a:rPr sz="1200" b="0">
                <a:solidFill>
                  <a:srgbClr val="475569"/>
                </a:solidFill>
                <a:latin typeface="Calibri"/>
              </a:rPr>
              <a:t> (24 variational angles vs 6,660 tree nodes)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Hilbert space mapping</a:t>
            </a:r>
            <a:r>
              <a:rPr sz="1200" b="0">
                <a:solidFill>
                  <a:srgbClr val="475569"/>
                </a:solidFill>
                <a:latin typeface="Calibri"/>
              </a:rPr>
              <a:t> (Maps inputs to 64-D quantum state space)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Complementary boundary</a:t>
            </a:r>
            <a:r>
              <a:rPr sz="1200" b="0">
                <a:solidFill>
                  <a:srgbClr val="475569"/>
                </a:solidFill>
                <a:latin typeface="Calibri"/>
              </a:rPr>
              <a:t> (Boosts specificity from 84.8% to 87.9%)</a:t>
            </a:r>
          </a:p>
          <a:p>
            <a:pPr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Simulator diversity</a:t>
            </a:r>
            <a:r>
              <a:rPr sz="1200" b="0">
                <a:solidFill>
                  <a:srgbClr val="475569"/>
                </a:solidFill>
                <a:latin typeface="Calibri"/>
              </a:rPr>
              <a:t> (Runs on NumPy, Aer, Braket, Lightning)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726679" y="2084831"/>
            <a:ext cx="3877056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7818120" y="2121408"/>
            <a:ext cx="3694176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System Specifications (ArogyaDristi)</a:t>
            </a:r>
          </a:p>
        </p:txBody>
      </p:sp>
      <p:graphicFrame>
        <p:nvGraphicFramePr>
          <p:cNvPr id="17432" name="Table 17431"/>
          <p:cNvGraphicFramePr>
            <a:graphicFrameLocks noGrp="1"/>
          </p:cNvGraphicFramePr>
          <p:nvPr/>
        </p:nvGraphicFramePr>
        <p:xfrm>
          <a:off x="7818120" y="2450592"/>
          <a:ext cx="3694176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39696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 / Component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Measured Specification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Quantum Circuit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6 Qubits, 2 Layers, 24 Angles (θ)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Simulators Supported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NumPy Statevector + 5 PennyLane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Active Process RAM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239.9 MB RSS (&lt; 512 MB budget)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Disk Footprint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&lt; 120 MB core install (FastAPI)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Compute Requirement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Standard Dual-Core CPU (Zero GPU)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Single Inference Latency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1.1s API round-trip (0.44 ms core)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Batch Throughput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500 records in &lt; 1.0s vectorized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Production Stack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Python 3.12, FastAPI, PennyLane, React 18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433" name="Picture 17432" descr="code404_logo_vertic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73152"/>
            <a:ext cx="960120" cy="813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91440"/>
            <a:ext cx="8046720" cy="777240"/>
          </a:xfrm>
        </p:spPr>
        <p:txBody>
          <a:bodyPr/>
          <a:lstStyle/>
          <a:p>
            <a:pPr eaLnBrk="1" hangingPunct="1">
              <a:defRPr sz="2800" b="1">
                <a:solidFill>
                  <a:srgbClr val="0A2540"/>
                </a:solidFill>
                <a:latin typeface="Calibri"/>
              </a:defRPr>
            </a:pPr>
            <a:r>
              <a:t>FEASIBILITY: EMPIRICAL BENCHMARKS &amp; VALIDATION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@Code (404)</a:t>
            </a:r>
          </a:p>
        </p:txBody>
      </p:sp>
      <p:pic>
        <p:nvPicPr>
          <p:cNvPr id="17411" name="Picture 17410" descr="patched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6576"/>
            <a:ext cx="1618488" cy="822960"/>
          </a:xfrm>
          <a:prstGeom prst="rect">
            <a:avLst/>
          </a:prstGeom>
        </p:spPr>
      </p:pic>
      <p:graphicFrame>
        <p:nvGraphicFramePr>
          <p:cNvPr id="17412" name="Chart 17411"/>
          <p:cNvGraphicFramePr>
            <a:graphicFrameLocks noGrp="1"/>
          </p:cNvGraphicFramePr>
          <p:nvPr/>
        </p:nvGraphicFramePr>
        <p:xfrm>
          <a:off x="594360" y="960120"/>
          <a:ext cx="5760720" cy="187451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413" name="Rounded Rectangle 17412"/>
          <p:cNvSpPr/>
          <p:nvPr/>
        </p:nvSpPr>
        <p:spPr>
          <a:xfrm>
            <a:off x="6492240" y="932688"/>
            <a:ext cx="5111496" cy="19019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200"/>
              </a:spcAft>
              <a:defRPr sz="1400" b="1">
                <a:solidFill>
                  <a:srgbClr val="0A2540"/>
                </a:solidFill>
                <a:latin typeface="Calibri"/>
              </a:defRPr>
            </a:pPr>
            <a:r>
              <a:t>Empirical Findings (Held-Out 20% Test, N=61)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050" b="1">
                <a:solidFill>
                  <a:srgbClr val="2563EB"/>
                </a:solidFill>
                <a:latin typeface="Calibri"/>
              </a:rPr>
              <a:t>• </a:t>
            </a:r>
            <a:r>
              <a:rPr sz="1050" b="1">
                <a:solidFill>
                  <a:srgbClr val="0F172A"/>
                </a:solidFill>
                <a:latin typeface="Calibri"/>
              </a:rPr>
              <a:t>5 Classical Models Evaluated</a:t>
            </a:r>
            <a:r>
              <a:rPr sz="1050" b="0">
                <a:solidFill>
                  <a:srgbClr val="475569"/>
                </a:solidFill>
                <a:latin typeface="Calibri"/>
              </a:rPr>
              <a:t> (RF (90.2%), LR (88.5%), XGB (86.9%), GBM (86.9%), SVM (83.6%))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050" b="1">
                <a:solidFill>
                  <a:srgbClr val="2563EB"/>
                </a:solidFill>
                <a:latin typeface="Calibri"/>
              </a:rPr>
              <a:t>• </a:t>
            </a:r>
            <a:r>
              <a:rPr sz="1050" b="1">
                <a:solidFill>
                  <a:srgbClr val="0F172A"/>
                </a:solidFill>
                <a:latin typeface="Calibri"/>
              </a:rPr>
              <a:t>Hybrid Beats Top Classical (RF)</a:t>
            </a:r>
            <a:r>
              <a:rPr sz="1050" b="0">
                <a:solidFill>
                  <a:srgbClr val="475569"/>
                </a:solidFill>
                <a:latin typeface="Calibri"/>
              </a:rPr>
              <a:t> (+1.6% gain (90.2% → 91.8%), 96.4% sensitivity, 87.9% specificity)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050" b="1">
                <a:solidFill>
                  <a:srgbClr val="2563EB"/>
                </a:solidFill>
                <a:latin typeface="Calibri"/>
              </a:rPr>
              <a:t>• </a:t>
            </a:r>
            <a:r>
              <a:rPr sz="1050" b="1">
                <a:solidFill>
                  <a:srgbClr val="0F172A"/>
                </a:solidFill>
                <a:latin typeface="Calibri"/>
              </a:rPr>
              <a:t>Higher Clinical Specificity</a:t>
            </a:r>
            <a:r>
              <a:rPr sz="1050" b="0">
                <a:solidFill>
                  <a:srgbClr val="475569"/>
                </a:solidFill>
                <a:latin typeface="Calibri"/>
              </a:rPr>
              <a:t> (84.8% → 87.9% reduces false alarm burden in clinics)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050" b="1">
                <a:solidFill>
                  <a:srgbClr val="2563EB"/>
                </a:solidFill>
                <a:latin typeface="Calibri"/>
              </a:rPr>
              <a:t>• </a:t>
            </a:r>
            <a:r>
              <a:rPr sz="1050" b="1">
                <a:solidFill>
                  <a:srgbClr val="0F172A"/>
                </a:solidFill>
                <a:latin typeface="Calibri"/>
              </a:rPr>
              <a:t>Crushes Deep Learning Baseline</a:t>
            </a:r>
            <a:r>
              <a:rPr sz="1050" b="0">
                <a:solidFill>
                  <a:srgbClr val="475569"/>
                </a:solidFill>
                <a:latin typeface="Calibri"/>
              </a:rPr>
              <a:t> (+11.5% higher accuracy than MLP 64-32 neural baseline)</a:t>
            </a:r>
          </a:p>
          <a:p>
            <a:pPr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563EB"/>
                </a:solidFill>
                <a:latin typeface="Calibri"/>
              </a:rPr>
              <a:t>• </a:t>
            </a:r>
            <a:r>
              <a:rPr sz="1050" b="1">
                <a:solidFill>
                  <a:srgbClr val="0F172A"/>
                </a:solidFill>
                <a:latin typeface="Calibri"/>
              </a:rPr>
              <a:t>Extreme Quantum Compactness</a:t>
            </a:r>
            <a:r>
              <a:rPr sz="1050" b="0">
                <a:solidFill>
                  <a:srgbClr val="475569"/>
                </a:solidFill>
                <a:latin typeface="Calibri"/>
              </a:rPr>
              <a:t> (Only 24 variational angles vs 6,660 classical tree splits)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594360" y="2907792"/>
          <a:ext cx="11009376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417320"/>
                <a:gridCol w="868680"/>
                <a:gridCol w="777240"/>
                <a:gridCol w="960120"/>
                <a:gridCol w="2414016"/>
                <a:gridCol w="2423160"/>
              </a:tblGrid>
              <a:tr h="17475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Model Architecture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Accuracy (95% CI)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ROC-AUC (95% CI)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Classical Ensemble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6,660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0.55s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0.06 ms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90.2% [82.0%, 96.7%]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94.7% [88.1%, 99.0%]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Classical Linear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0.02s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0.02 ms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88.5% [80.3%, 95.1%]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95.0% [89.0%, 99.2%]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Classical Boosted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0.38s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0.05 ms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86.9% [78.7%, 95.1%]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95.5% [89.2%, 99.4%]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Classical HistGBM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0.32s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0.05 ms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86.9% [78.7%, 95.1%]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94.6% [88.9%, 99.0%]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Support Vector Machine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Classical Kernel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0.12s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0.08 ms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83.6% [73.8%, 91.8%]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92.6% [85.5%, 98.0%]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Deep Learning (MLP 64-32)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Neural Baseline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3,009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0.04s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0.01 ms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80.3% [70.5%, 88.5%]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92.3% [84.4%, 97.9%]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Quantum VQC (6-Qubit Sim)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Variational QML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4.82s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0.38 ms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54.1% [41.0%, 67.2%]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60.8% [48.9%, 73.4%]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</a:tr>
              <a:tr h="174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5F46"/>
                          </a:solidFill>
                          <a:latin typeface="Calibri"/>
                        </a:rPr>
                        <a:t>★ Hybrid (ArogyaDristi)</a:t>
                      </a:r>
                    </a:p>
                  </a:txBody>
                  <a:tcPr anchor="ctr" marT="18288" marB="18288"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5F46"/>
                          </a:solidFill>
                          <a:latin typeface="Calibri"/>
                        </a:rPr>
                        <a:t>Quantum-Classical</a:t>
                      </a:r>
                    </a:p>
                  </a:txBody>
                  <a:tcPr anchor="ctr" marT="18288" marB="18288"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5F46"/>
                          </a:solidFill>
                          <a:latin typeface="Calibri"/>
                        </a:rPr>
                        <a:t>6,684</a:t>
                      </a:r>
                    </a:p>
                  </a:txBody>
                  <a:tcPr anchor="ctr" marT="18288" marB="18288"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5F46"/>
                          </a:solidFill>
                          <a:latin typeface="Calibri"/>
                        </a:rPr>
                        <a:t>5.37s</a:t>
                      </a:r>
                    </a:p>
                  </a:txBody>
                  <a:tcPr anchor="ctr" marT="18288" marB="18288"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5F46"/>
                          </a:solidFill>
                          <a:latin typeface="Calibri"/>
                        </a:rPr>
                        <a:t>0.44 ms</a:t>
                      </a:r>
                    </a:p>
                  </a:txBody>
                  <a:tcPr anchor="ctr" marT="18288" marB="18288"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5F46"/>
                          </a:solidFill>
                          <a:latin typeface="Calibri"/>
                        </a:rPr>
                        <a:t>91.8% [83.6%, 98.4%]</a:t>
                      </a:r>
                    </a:p>
                  </a:txBody>
                  <a:tcPr anchor="ctr" marT="18288" marB="18288"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65F46"/>
                          </a:solidFill>
                          <a:latin typeface="Calibri"/>
                        </a:rPr>
                        <a:t>94.3% [86.7%, 99.6%]</a:t>
                      </a:r>
                    </a:p>
                  </a:txBody>
                  <a:tcPr anchor="ctr" marT="18288" marB="18288" marL="45720" marR="45720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7415" name="TextBox 17414"/>
          <p:cNvSpPr txBox="1"/>
          <p:nvPr/>
        </p:nvSpPr>
        <p:spPr>
          <a:xfrm>
            <a:off x="594360" y="4517136"/>
            <a:ext cx="11009376" cy="1828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475569"/>
                </a:solidFill>
                <a:latin typeface="Calibri"/>
              </a:defRPr>
            </a:pPr>
            <a:r>
              <a:t>* Evaluated on identical locked 20% test split (N=61); 1,000 bootstrap iterations for 95% CIs. Hybrid combines 5 classical models + 6-qubit VQC.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94360" y="4736592"/>
            <a:ext cx="576072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200"/>
              </a:spcAft>
              <a:defRPr sz="1400" b="1">
                <a:solidFill>
                  <a:srgbClr val="0A2540"/>
                </a:solidFill>
                <a:latin typeface="Calibri"/>
              </a:defRPr>
            </a:pPr>
            <a:r>
              <a:t>Risks &amp; Technical Mitigations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150" b="1">
                <a:solidFill>
                  <a:srgbClr val="2563EB"/>
                </a:solidFill>
                <a:latin typeface="Calibri"/>
              </a:rPr>
              <a:t>• </a:t>
            </a:r>
            <a:r>
              <a:rPr sz="1150" b="1">
                <a:solidFill>
                  <a:srgbClr val="0F172A"/>
                </a:solidFill>
                <a:latin typeface="Calibri"/>
              </a:rPr>
              <a:t>Simulation vs real QPU</a:t>
            </a:r>
            <a:r>
              <a:rPr sz="1150" b="0">
                <a:solidFill>
                  <a:srgbClr val="475569"/>
                </a:solidFill>
                <a:latin typeface="Calibri"/>
              </a:rPr>
              <a:t> (Evaluated on noise; API ready for physical QPUs)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150" b="1">
                <a:solidFill>
                  <a:srgbClr val="2563EB"/>
                </a:solidFill>
                <a:latin typeface="Calibri"/>
              </a:rPr>
              <a:t>• </a:t>
            </a:r>
            <a:r>
              <a:rPr sz="1150" b="1">
                <a:solidFill>
                  <a:srgbClr val="0F172A"/>
                </a:solidFill>
                <a:latin typeface="Calibri"/>
              </a:rPr>
              <a:t>Clinician hesitation</a:t>
            </a:r>
            <a:r>
              <a:rPr sz="1150" b="0">
                <a:solidFill>
                  <a:srgbClr val="475569"/>
                </a:solidFill>
                <a:latin typeface="Calibri"/>
              </a:rPr>
              <a:t> (Addressed via local SHAP explanations &amp; calibrated risk)</a:t>
            </a:r>
          </a:p>
          <a:p>
            <a:pPr>
              <a:spcAft>
                <a:spcPts val="0"/>
              </a:spcAft>
              <a:defRPr>
                <a:latin typeface="Calibri"/>
              </a:defRPr>
            </a:pPr>
            <a:r>
              <a:rPr sz="1150" b="1">
                <a:solidFill>
                  <a:srgbClr val="2563EB"/>
                </a:solidFill>
                <a:latin typeface="Calibri"/>
              </a:rPr>
              <a:t>• </a:t>
            </a:r>
            <a:r>
              <a:rPr sz="1150" b="1">
                <a:solidFill>
                  <a:srgbClr val="0F172A"/>
                </a:solidFill>
                <a:latin typeface="Calibri"/>
              </a:rPr>
              <a:t>Corrupted lab sensors</a:t>
            </a:r>
            <a:r>
              <a:rPr sz="1150" b="0">
                <a:solidFill>
                  <a:srgbClr val="475569"/>
                </a:solidFill>
                <a:latin typeface="Calibri"/>
              </a:rPr>
              <a:t> (Automated preprocessing rejects unphysiological values)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492240" y="4736592"/>
            <a:ext cx="5111496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200"/>
              </a:spcAft>
              <a:defRPr sz="1400" b="1">
                <a:solidFill>
                  <a:srgbClr val="0A2540"/>
                </a:solidFill>
                <a:latin typeface="Calibri"/>
              </a:defRPr>
            </a:pPr>
            <a:r>
              <a:t>Implementation Status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150" b="1">
                <a:solidFill>
                  <a:srgbClr val="2563EB"/>
                </a:solidFill>
                <a:latin typeface="Calibri"/>
              </a:rPr>
              <a:t>• </a:t>
            </a:r>
            <a:r>
              <a:rPr sz="1150" b="1">
                <a:solidFill>
                  <a:srgbClr val="0F172A"/>
                </a:solidFill>
                <a:latin typeface="Calibri"/>
              </a:rPr>
              <a:t>DONE</a:t>
            </a:r>
            <a:r>
              <a:rPr sz="1150" b="0">
                <a:solidFill>
                  <a:srgbClr val="475569"/>
                </a:solidFill>
                <a:latin typeface="Calibri"/>
              </a:rPr>
              <a:t> (5 Classical ML models, 6-qubit VQC, 6 simulators, React 18 UI)</a:t>
            </a:r>
          </a:p>
          <a:p>
            <a:pPr>
              <a:spcAft>
                <a:spcPts val="0"/>
              </a:spcAft>
              <a:defRPr>
                <a:latin typeface="Calibri"/>
              </a:defRPr>
            </a:pPr>
            <a:r>
              <a:rPr sz="1150" b="1">
                <a:solidFill>
                  <a:srgbClr val="2563EB"/>
                </a:solidFill>
                <a:latin typeface="Calibri"/>
              </a:rPr>
              <a:t>• </a:t>
            </a:r>
            <a:r>
              <a:rPr sz="1150" b="1">
                <a:solidFill>
                  <a:srgbClr val="0F172A"/>
                </a:solidFill>
                <a:latin typeface="Calibri"/>
              </a:rPr>
              <a:t>PLANNED</a:t>
            </a:r>
            <a:r>
              <a:rPr sz="1150" b="0">
                <a:solidFill>
                  <a:srgbClr val="475569"/>
                </a:solidFill>
                <a:latin typeface="Calibri"/>
              </a:rPr>
              <a:t> (Multi-center hospital pilot &amp; real QPU testbed benchmarking)</a:t>
            </a:r>
          </a:p>
        </p:txBody>
      </p:sp>
      <p:pic>
        <p:nvPicPr>
          <p:cNvPr id="17418" name="Picture 17417" descr="code404_logo_vertic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73152"/>
            <a:ext cx="960120" cy="81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91440"/>
            <a:ext cx="8046720" cy="777240"/>
          </a:xfrm>
        </p:spPr>
        <p:txBody>
          <a:bodyPr/>
          <a:lstStyle/>
          <a:p>
            <a:pPr eaLnBrk="1" hangingPunct="1">
              <a:defRPr sz="2800" b="1">
                <a:solidFill>
                  <a:srgbClr val="0A2540"/>
                </a:solidFill>
                <a:latin typeface="Calibri"/>
              </a:defRPr>
            </a:pPr>
            <a:r>
              <a:t>CLINICAL IMPACT &amp; DECISION SUPPORT DASHBOARD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@Code (404)</a:t>
            </a:r>
          </a:p>
        </p:txBody>
      </p:sp>
      <p:pic>
        <p:nvPicPr>
          <p:cNvPr id="17411" name="Picture 17410" descr="patched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6576"/>
            <a:ext cx="1618488" cy="82296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94360" y="960120"/>
            <a:ext cx="2651760" cy="2999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667512" y="1024128"/>
            <a:ext cx="2505456" cy="292608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[1] Risk Level Tier</a:t>
            </a:r>
          </a:p>
        </p:txBody>
      </p:sp>
      <p:pic>
        <p:nvPicPr>
          <p:cNvPr id="17414" name="Picture 1741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1371600"/>
            <a:ext cx="2377440" cy="126187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67512" y="2688336"/>
            <a:ext cx="2505456" cy="12070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• Meaning: Low / Moderate / High clinical risk</a:t>
            </a:r>
          </a:p>
          <a:p>
            <a:pPr algn="l">
              <a:spcAft>
                <a:spcPts val="0"/>
              </a:spcAft>
              <a:defRPr sz="1150" b="0">
                <a:solidFill>
                  <a:srgbClr val="475569"/>
                </a:solidFill>
                <a:latin typeface="Calibri"/>
              </a:defRPr>
            </a:pPr>
            <a:r>
              <a:t>• Technical: Platt-calibrated probability (Pcal)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392424" y="960120"/>
            <a:ext cx="2651760" cy="2999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3465576" y="1024128"/>
            <a:ext cx="2505456" cy="292608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[2] Model Consensus</a:t>
            </a:r>
          </a:p>
        </p:txBody>
      </p:sp>
      <p:pic>
        <p:nvPicPr>
          <p:cNvPr id="17418" name="Picture 1741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584" y="1371600"/>
            <a:ext cx="2377440" cy="1261872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3465576" y="2688336"/>
            <a:ext cx="2505456" cy="12070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• Meaning: Verifies agreement across algorithms</a:t>
            </a:r>
          </a:p>
          <a:p>
            <a:pPr algn="l">
              <a:spcAft>
                <a:spcPts val="0"/>
              </a:spcAft>
              <a:defRPr sz="1150" b="0">
                <a:solidFill>
                  <a:srgbClr val="475569"/>
                </a:solidFill>
                <a:latin typeface="Calibri"/>
              </a:defRPr>
            </a:pPr>
            <a:r>
              <a:t>• Technical: Brier score &amp; accuracy across 5 ML + VQC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90488" y="960120"/>
            <a:ext cx="2651760" cy="2999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263640" y="1024128"/>
            <a:ext cx="2505456" cy="292608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[3] Biomarker Impact</a:t>
            </a:r>
          </a:p>
        </p:txBody>
      </p:sp>
      <p:pic>
        <p:nvPicPr>
          <p:cNvPr id="17422" name="Picture 17421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48" y="1371600"/>
            <a:ext cx="2377440" cy="1261872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6263640" y="2688336"/>
            <a:ext cx="2505456" cy="12070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• Meaning: Shows which lab tests drive the risk</a:t>
            </a:r>
          </a:p>
          <a:p>
            <a:pPr algn="l">
              <a:spcAft>
                <a:spcPts val="0"/>
              </a:spcAft>
              <a:defRPr sz="1150" b="0">
                <a:solidFill>
                  <a:srgbClr val="475569"/>
                </a:solidFill>
                <a:latin typeface="Calibri"/>
              </a:defRPr>
            </a:pPr>
            <a:r>
              <a:t>• Technical: Local SHAP biomarker attribution waterfall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988552" y="960120"/>
            <a:ext cx="2651760" cy="2999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9061704" y="1024128"/>
            <a:ext cx="2505456" cy="292608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[4] Health Radar &amp; Audit</a:t>
            </a:r>
          </a:p>
        </p:txBody>
      </p:sp>
      <p:pic>
        <p:nvPicPr>
          <p:cNvPr id="17426" name="Picture 17425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1371600"/>
            <a:ext cx="2377440" cy="1261872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9061704" y="2688336"/>
            <a:ext cx="2505456" cy="12070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2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• Meaning: Compares patient against normal baseline</a:t>
            </a:r>
          </a:p>
          <a:p>
            <a:pPr algn="l">
              <a:spcAft>
                <a:spcPts val="0"/>
              </a:spcAft>
              <a:defRPr sz="1150" b="0">
                <a:solidFill>
                  <a:srgbClr val="475569"/>
                </a:solidFill>
                <a:latin typeface="Calibri"/>
              </a:defRPr>
            </a:pPr>
            <a:r>
              <a:t>• Technical: Multi-axial deviation + SHA-256 seal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94360" y="4078224"/>
            <a:ext cx="3547872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4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Doctor Outpatient Clinic (OPD)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300" b="1">
                <a:solidFill>
                  <a:srgbClr val="2563EB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Sub-second second opinion</a:t>
            </a:r>
            <a:r>
              <a:rPr sz="1300" b="0">
                <a:solidFill>
                  <a:srgbClr val="475569"/>
                </a:solidFill>
                <a:latin typeface="Calibri"/>
              </a:rPr>
              <a:t> (1.1s latency on routine clinic laptop)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300" b="1">
                <a:solidFill>
                  <a:srgbClr val="2563EB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Cryptographic audit report</a:t>
            </a:r>
            <a:r>
              <a:rPr sz="1300" b="0">
                <a:solidFill>
                  <a:srgbClr val="475569"/>
                </a:solidFill>
                <a:latin typeface="Calibri"/>
              </a:rPr>
              <a:t> (Tamper-evident SHA-256 hash seal)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300" b="1">
                <a:solidFill>
                  <a:srgbClr val="2563EB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Calibrated probability</a:t>
            </a:r>
            <a:r>
              <a:rPr sz="1300" b="0">
                <a:solidFill>
                  <a:srgbClr val="475569"/>
                </a:solidFill>
                <a:latin typeface="Calibri"/>
              </a:rPr>
              <a:t> (Prevents model overconfidence)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325112" y="4078224"/>
            <a:ext cx="3547872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4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ASHA Village Screening Camps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300" b="1">
                <a:solidFill>
                  <a:srgbClr val="2563EB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Rapid batch CSV triage</a:t>
            </a:r>
            <a:r>
              <a:rPr sz="1300" b="0">
                <a:solidFill>
                  <a:srgbClr val="475569"/>
                </a:solidFill>
                <a:latin typeface="Calibri"/>
              </a:rPr>
              <a:t> (Processes 500 patient records in &lt;1.0s)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300" b="1">
                <a:solidFill>
                  <a:srgbClr val="2563EB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Prioritized follow-up roster</a:t>
            </a:r>
            <a:r>
              <a:rPr sz="1300" b="0">
                <a:solidFill>
                  <a:srgbClr val="475569"/>
                </a:solidFill>
                <a:latin typeface="Calibri"/>
              </a:rPr>
              <a:t> (Identifies high-risk patients instantly)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300" b="1">
                <a:solidFill>
                  <a:srgbClr val="2563EB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100% offline edge mode</a:t>
            </a:r>
            <a:r>
              <a:rPr sz="1300" b="0">
                <a:solidFill>
                  <a:srgbClr val="475569"/>
                </a:solidFill>
                <a:latin typeface="Calibri"/>
              </a:rPr>
              <a:t> (Zero internet dependency during camps)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055864" y="4078224"/>
            <a:ext cx="3547872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4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District Health Management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300" b="1">
                <a:solidFill>
                  <a:srgbClr val="2563EB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Epidemiological trends</a:t>
            </a:r>
            <a:r>
              <a:rPr sz="1300" b="0">
                <a:solidFill>
                  <a:srgbClr val="475569"/>
                </a:solidFill>
                <a:latin typeface="Calibri"/>
              </a:rPr>
              <a:t> (Aggregated community risk analysis)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300" b="1">
                <a:solidFill>
                  <a:srgbClr val="2563EB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Evidence-based allocation</a:t>
            </a:r>
            <a:r>
              <a:rPr sz="1300" b="0">
                <a:solidFill>
                  <a:srgbClr val="475569"/>
                </a:solidFill>
                <a:latin typeface="Calibri"/>
              </a:rPr>
              <a:t> (Guides medicine &amp; clinic resource planning)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300" b="1">
                <a:solidFill>
                  <a:srgbClr val="2563EB"/>
                </a:solidFill>
                <a:latin typeface="Calibri"/>
              </a:rPr>
              <a:t>• </a:t>
            </a:r>
            <a:r>
              <a:rPr sz="1300" b="1">
                <a:solidFill>
                  <a:srgbClr val="0F172A"/>
                </a:solidFill>
                <a:latin typeface="Calibri"/>
              </a:rPr>
              <a:t>Empirically validated</a:t>
            </a:r>
            <a:r>
              <a:rPr sz="1300" b="0">
                <a:solidFill>
                  <a:srgbClr val="475569"/>
                </a:solidFill>
                <a:latin typeface="Calibri"/>
              </a:rPr>
              <a:t> (Tested on 211,833 authentic patient records)</a:t>
            </a:r>
          </a:p>
        </p:txBody>
      </p:sp>
      <p:pic>
        <p:nvPicPr>
          <p:cNvPr id="17431" name="Picture 17430" descr="code404_logo_vertic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48" y="73152"/>
            <a:ext cx="960120" cy="81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91440"/>
            <a:ext cx="8046720" cy="777240"/>
          </a:xfrm>
        </p:spPr>
        <p:txBody>
          <a:bodyPr/>
          <a:lstStyle/>
          <a:p>
            <a:pPr eaLnBrk="1" hangingPunct="1">
              <a:defRPr sz="2800" b="1">
                <a:solidFill>
                  <a:srgbClr val="0A2540"/>
                </a:solidFill>
                <a:latin typeface="Calibri"/>
              </a:defRPr>
            </a:pPr>
            <a:r>
              <a:t>RESEARCH, CLINICAL STANDARDS &amp; WORKING 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 sz="1100">
                <a:solidFill>
                  <a:srgbClr val="475569"/>
                </a:solidFill>
                <a:latin typeface="Calibri"/>
              </a:defRPr>
            </a:pPr>
            <a:r>
              <a:t>@Code (404)</a:t>
            </a:r>
          </a:p>
        </p:txBody>
      </p:sp>
      <p:pic>
        <p:nvPicPr>
          <p:cNvPr id="17411" name="Picture 17410" descr="patched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6576"/>
            <a:ext cx="1618488" cy="82296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94360" y="932688"/>
            <a:ext cx="534924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2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Scientific Literature &amp; Standards — Clickable Links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000" b="1">
                <a:solidFill>
                  <a:srgbClr val="2563EB"/>
                </a:solidFill>
                <a:latin typeface="Calibri"/>
              </a:rPr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01 | Schuld et al. (PRX Quantum 2021)</a:t>
            </a:r>
            <a:r>
              <a:rPr sz="1000" b="0">
                <a:solidFill>
                  <a:srgbClr val="475569"/>
                </a:solidFill>
                <a:latin typeface="Calibri"/>
              </a:rPr>
              <a:t> (Supervised quantum models)</a:t>
            </a:r>
            <a:r>
              <a:t>  </a:t>
            </a:r>
            <a:r>
              <a:rPr sz="900" b="1" u="sng">
                <a:solidFill>
                  <a:srgbClr val="2563EB"/>
                </a:solidFill>
                <a:latin typeface="Calibri"/>
                <a:hlinkClick r:id="rId11"/>
              </a:rPr>
              <a:t>[View Paper ↗]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000" b="1">
                <a:solidFill>
                  <a:srgbClr val="2563EB"/>
                </a:solidFill>
                <a:latin typeface="Calibri"/>
              </a:rPr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02 | Chen et al. (BMJ Open / Dryad 2018)</a:t>
            </a:r>
            <a:r>
              <a:rPr sz="1000" b="0">
                <a:solidFill>
                  <a:srgbClr val="475569"/>
                </a:solidFill>
                <a:latin typeface="Calibri"/>
              </a:rPr>
              <a:t> (211,833 patient records)</a:t>
            </a:r>
            <a:r>
              <a:t>  </a:t>
            </a:r>
            <a:r>
              <a:rPr sz="900" b="1" u="sng">
                <a:solidFill>
                  <a:srgbClr val="2563EB"/>
                </a:solidFill>
                <a:latin typeface="Calibri"/>
                <a:hlinkClick r:id="rId12"/>
              </a:rPr>
              <a:t>[View Cohort ↗]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000" b="1">
                <a:solidFill>
                  <a:srgbClr val="2563EB"/>
                </a:solidFill>
                <a:latin typeface="Calibri"/>
              </a:rPr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03 | ICMR-INDIAB (The Lancet 2023)</a:t>
            </a:r>
            <a:r>
              <a:rPr sz="1000" b="0">
                <a:solidFill>
                  <a:srgbClr val="475569"/>
                </a:solidFill>
                <a:latin typeface="Calibri"/>
              </a:rPr>
              <a:t> (South Asian BMI ≥ 23 kg/m²)</a:t>
            </a:r>
            <a:r>
              <a:t>  </a:t>
            </a:r>
            <a:r>
              <a:rPr sz="900" b="1" u="sng">
                <a:solidFill>
                  <a:srgbClr val="2563EB"/>
                </a:solidFill>
                <a:latin typeface="Calibri"/>
                <a:hlinkClick r:id="rId13"/>
              </a:rPr>
              <a:t>[View Study ↗]</a:t>
            </a:r>
          </a:p>
          <a:p>
            <a:pPr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563EB"/>
                </a:solidFill>
                <a:latin typeface="Calibri"/>
              </a:rPr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04 | Cerezo et al. (Nature Reviews 2021)</a:t>
            </a:r>
            <a:r>
              <a:rPr sz="1000" b="0">
                <a:solidFill>
                  <a:srgbClr val="475569"/>
                </a:solidFill>
                <a:latin typeface="Calibri"/>
              </a:rPr>
              <a:t> (NISQ quantum algorithms)</a:t>
            </a:r>
            <a:r>
              <a:t>  </a:t>
            </a:r>
            <a:r>
              <a:rPr sz="900" b="1" u="sng">
                <a:solidFill>
                  <a:srgbClr val="2563EB"/>
                </a:solidFill>
                <a:latin typeface="Calibri"/>
                <a:hlinkClick r:id="rId14"/>
              </a:rPr>
              <a:t>[View Review ↗]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932688"/>
            <a:ext cx="5431536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2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Clinical Scope &amp; Boundaries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What it CAN do</a:t>
            </a:r>
            <a:r>
              <a:rPr sz="1200" b="0">
                <a:solidFill>
                  <a:srgbClr val="475569"/>
                </a:solidFill>
                <a:latin typeface="Calibri"/>
              </a:rPr>
              <a:t> (Pre-symptomatic triage &amp; chronic disease risk scoring)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What it CANNOT do</a:t>
            </a:r>
            <a:r>
              <a:rPr sz="1200" b="0">
                <a:solidFill>
                  <a:srgbClr val="475569"/>
                </a:solidFill>
                <a:latin typeface="Calibri"/>
              </a:rPr>
              <a:t> (Definitive pathology, emergencies, or biopsy replacement)</a:t>
            </a:r>
          </a:p>
          <a:p>
            <a:pPr>
              <a:spcAft>
                <a:spcPts val="10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Clinical protocol</a:t>
            </a:r>
            <a:r>
              <a:rPr sz="1200" b="0">
                <a:solidFill>
                  <a:srgbClr val="475569"/>
                </a:solidFill>
                <a:latin typeface="Calibri"/>
              </a:rPr>
              <a:t> (Doctor retains sole prescription &amp; diagnostic authority)</a:t>
            </a:r>
          </a:p>
          <a:p>
            <a:pPr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2563EB"/>
                </a:solidFill>
                <a:latin typeface="Calibri"/>
              </a:rPr>
              <a:t>• </a:t>
            </a:r>
            <a:r>
              <a:rPr sz="1200" b="1">
                <a:solidFill>
                  <a:srgbClr val="0F172A"/>
                </a:solidFill>
                <a:latin typeface="Calibri"/>
              </a:rPr>
              <a:t>Regulatory alignment</a:t>
            </a:r>
            <a:r>
              <a:rPr sz="1200" b="0">
                <a:solidFill>
                  <a:srgbClr val="475569"/>
                </a:solidFill>
                <a:latin typeface="Calibri"/>
              </a:rPr>
              <a:t> (CDSCO &amp; ICMR clinical decision support compliance)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94360" y="2688336"/>
            <a:ext cx="649224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4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Commercial Medical AI vs ArogyaDristi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731520" y="3127248"/>
          <a:ext cx="6217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417320"/>
                <a:gridCol w="1417320"/>
                <a:gridCol w="178308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Evaluation Criteria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Commercial AI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 anchor="ctr" marT="18288" marB="18288" marL="45720" marR="4572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ArogyaDristi</a:t>
                      </a:r>
                    </a:p>
                  </a:txBody>
                  <a:tcPr anchor="ctr" marT="18288" marB="18288" marL="45720" marR="45720">
                    <a:solidFill>
                      <a:srgbClr val="065F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Hardware Cost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Rs. 10L+ GPU Server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GPU Required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5F46"/>
                          </a:solidFill>
                          <a:latin typeface="Calibri"/>
                        </a:rPr>
                        <a:t>Rs. 0 (Runs on Rs. 25k Laptop)</a:t>
                      </a:r>
                    </a:p>
                  </a:txBody>
                  <a:tcPr anchor="ctr" marT="18288" marB="18288" marL="45720" marR="45720">
                    <a:solidFill>
                      <a:srgbClr val="F0F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Offline Operation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Cloud-dependent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Heavy local setup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5F46"/>
                          </a:solidFill>
                          <a:latin typeface="Calibri"/>
                        </a:rPr>
                        <a:t>100% Offline Edge Mode</a:t>
                      </a:r>
                    </a:p>
                  </a:txBody>
                  <a:tcPr anchor="ctr" marT="18288" marB="18288" marL="45720" marR="45720">
                    <a:solidFill>
                      <a:srgbClr val="F0F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Parameter Count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Millions (Black box)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3,000+ Weights</a:t>
                      </a:r>
                    </a:p>
                  </a:txBody>
                  <a:tcPr anchor="ctr" marT="18288" marB="18288"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5F46"/>
                          </a:solidFill>
                          <a:latin typeface="Calibri"/>
                        </a:rPr>
                        <a:t>24 Quantum Angles (VQC)</a:t>
                      </a:r>
                    </a:p>
                  </a:txBody>
                  <a:tcPr anchor="ctr" marT="18288" marB="18288" marL="45720" marR="45720">
                    <a:solidFill>
                      <a:srgbClr val="F0FD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Clinical Audit Trail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Opaque output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Uncalibrated score</a:t>
                      </a:r>
                    </a:p>
                  </a:txBody>
                  <a:tcPr anchor="ctr" marT="18288" marB="18288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5F46"/>
                          </a:solidFill>
                          <a:latin typeface="Calibri"/>
                        </a:rPr>
                        <a:t>Cryptographic SHA-256 PDF</a:t>
                      </a:r>
                    </a:p>
                  </a:txBody>
                  <a:tcPr anchor="ctr" marT="18288" marB="18288" marL="45720" marR="45720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7416" name="TextBox 17415"/>
          <p:cNvSpPr txBox="1"/>
          <p:nvPr/>
        </p:nvSpPr>
        <p:spPr>
          <a:xfrm>
            <a:off x="731520" y="5321808"/>
            <a:ext cx="621792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59669"/>
                </a:solidFill>
                <a:latin typeface="Calibri"/>
              </a:defRPr>
            </a:pPr>
            <a:r>
              <a:t>Validated across 70 backend pytest tests (all passing) + frontend Vite build verified.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269480" y="2688336"/>
            <a:ext cx="4334256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20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Working Prototype &amp; Live Testing</a:t>
            </a:r>
          </a:p>
          <a:p>
            <a:r>
              <a:rPr sz="1100" b="0">
                <a:solidFill>
                  <a:srgbClr val="0F172A"/>
                </a:solidFill>
                <a:latin typeface="Calibri"/>
              </a:rPr>
              <a:t>Click to open live app: </a:t>
            </a:r>
            <a:r>
              <a:rPr sz="1100" b="1" u="sng">
                <a:solidFill>
                  <a:srgbClr val="2563EB"/>
                </a:solidFill>
                <a:latin typeface="Calibri"/>
                <a:hlinkClick r:id="rId7"/>
              </a:rPr>
              <a:t>quantumhealth-ai.onrender.com ↗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360920" y="3401568"/>
            <a:ext cx="2560320" cy="224942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Live ArogyaDristi Web App: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2563EB"/>
                </a:solidFill>
                <a:latin typeface="Calibri"/>
                <a:hlinkClick r:id="rId7"/>
              </a:rPr>
              <a:t>  quantumhealth-ai.onrender.com ↗</a:t>
            </a:r>
          </a:p>
          <a:p>
            <a:pPr algn="l"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Public API Docs: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2563EB"/>
                </a:solidFill>
                <a:latin typeface="Calibri"/>
                <a:hlinkClick r:id="rId8"/>
              </a:rPr>
              <a:t>  /docs (FastAPI Swagger UI) ↗</a:t>
            </a:r>
          </a:p>
          <a:p>
            <a:pPr algn="l"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Open-Source GitHub: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2563EB"/>
                </a:solidFill>
                <a:latin typeface="Calibri"/>
                <a:hlinkClick r:id="rId9"/>
              </a:rPr>
              <a:t>  github.com/.../ArogyaDristi ↗</a:t>
            </a:r>
          </a:p>
          <a:p>
            <a:pPr algn="l">
              <a:spcAft>
                <a:spcPts val="10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• Automated Test Suite: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059669"/>
                </a:solidFill>
                <a:latin typeface="Calibri"/>
              </a:defRPr>
            </a:pPr>
            <a:r>
              <a:t>  70 backend tests (all passing)</a:t>
            </a:r>
          </a:p>
        </p:txBody>
      </p:sp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3291840"/>
            <a:ext cx="1325880" cy="132588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875520" y="4709160"/>
            <a:ext cx="1645920" cy="7315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A2540"/>
                </a:solidFill>
                <a:latin typeface="Calibri"/>
              </a:defRPr>
            </a:pPr>
            <a:r>
              <a:t>Scan to Test Live</a:t>
            </a:r>
            <a:br/>
            <a:r>
              <a:t>on Mobile</a:t>
            </a:r>
          </a:p>
        </p:txBody>
      </p:sp>
      <p:pic>
        <p:nvPicPr>
          <p:cNvPr id="17421" name="Picture 17420" descr="code404_logo_vertica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048" y="73152"/>
            <a:ext cx="960120" cy="81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Ahmad Ali</cp:lastModifiedBy>
  <cp:revision>149</cp:revision>
  <dcterms:created xsi:type="dcterms:W3CDTF">2013-12-12T18:46:50Z</dcterms:created>
  <dcterms:modified xsi:type="dcterms:W3CDTF">2026-08-26T06:52:29Z</dcterms:modified>
  <cp:category/>
</cp:coreProperties>
</file>