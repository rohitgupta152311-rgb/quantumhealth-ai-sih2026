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F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731520"/>
            <a:ext cx="10728655" cy="5394960"/>
          </a:xfrm>
          <a:prstGeom prst="roundRect">
            <a:avLst/>
          </a:prstGeom>
          <a:solidFill>
            <a:srgbClr val="111827"/>
          </a:solidFill>
          <a:ln w="1270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1005840"/>
            <a:ext cx="9966960" cy="1645920"/>
          </a:xfrm>
          <a:prstGeom prst="rect">
            <a:avLst/>
          </a:prstGeom>
          <a:noFill/>
        </p:spPr>
        <p:txBody>
          <a:bodyPr wrap="square">
            <a:spAutoFit/>
          </a:bodyPr>
          <a:lstStyle/>
          <a:p>
            <a:pPr>
              <a:defRPr sz="1100" b="1">
                <a:solidFill>
                  <a:srgbClr val="06B6D4"/>
                </a:solidFill>
              </a:defRPr>
            </a:pPr>
            <a:r>
              <a:t>BUILD 2026 HACKATHON ? HEALTHCARE &amp; QUANTUM ML TRACK</a:t>
            </a:r>
          </a:p>
          <a:p>
            <a:pPr>
              <a:defRPr sz="3600" b="1">
                <a:solidFill>
                  <a:srgbClr val="FFFFFF"/>
                </a:solidFill>
              </a:defRPr>
            </a:pPr>
            <a:r>
              <a:t>ArogyaDristi (QuantumHealth AI)</a:t>
            </a:r>
          </a:p>
          <a:p>
            <a:pPr>
              <a:defRPr sz="1400">
                <a:solidFill>
                  <a:srgbClr val="14B8A6"/>
                </a:solidFill>
              </a:defRPr>
            </a:pPr>
            <a:r>
              <a:t>Hybrid Quantum-Classical Clinical Decision Support with Algorithmic Abstention</a:t>
            </a:r>
          </a:p>
        </p:txBody>
      </p:sp>
      <p:sp>
        <p:nvSpPr>
          <p:cNvPr id="5" name="Rounded Rectangle 4"/>
          <p:cNvSpPr/>
          <p:nvPr/>
        </p:nvSpPr>
        <p:spPr>
          <a:xfrm>
            <a:off x="1097280" y="2560320"/>
            <a:ext cx="9997135" cy="1005840"/>
          </a:xfrm>
          <a:prstGeom prst="roundRect">
            <a:avLst/>
          </a:prstGeom>
          <a:solidFill>
            <a:srgbClr val="0F172A"/>
          </a:solidFill>
          <a:ln w="1270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80160" y="2651760"/>
            <a:ext cx="9601200" cy="822960"/>
          </a:xfrm>
          <a:prstGeom prst="rect">
            <a:avLst/>
          </a:prstGeom>
          <a:noFill/>
        </p:spPr>
        <p:txBody>
          <a:bodyPr wrap="square">
            <a:spAutoFit/>
          </a:bodyPr>
          <a:lstStyle/>
          <a:p>
            <a:pPr>
              <a:defRPr sz="950" b="1">
                <a:solidFill>
                  <a:srgbClr val="F59E0B"/>
                </a:solidFill>
              </a:defRPr>
            </a:pPr>
            <a:r>
              <a:t>CORE PURPOSE (ONE SENTENCE)</a:t>
            </a:r>
          </a:p>
          <a:p>
            <a:pPr>
              <a:defRPr sz="1150">
                <a:solidFill>
                  <a:srgbClr val="FFFFFF"/>
                </a:solidFill>
              </a:defRPr>
            </a:pPr>
            <a:r>
              <a:t>ArogyaDristi pairs a 5-model calibrated classical ensemble with a 6-qubit quantum variational classifier to detect pre-symptomatic chronic diseases (Diabetes, Heart Disease, CKD, Breast Cancer) ? automatically abstaining when models contradict to protect frontline clinicians from deceptive AI risk scores.</a:t>
            </a:r>
          </a:p>
        </p:txBody>
      </p:sp>
      <p:sp>
        <p:nvSpPr>
          <p:cNvPr id="7" name="Rounded Rectangle 6"/>
          <p:cNvSpPr/>
          <p:nvPr/>
        </p:nvSpPr>
        <p:spPr>
          <a:xfrm>
            <a:off x="1097280" y="3794760"/>
            <a:ext cx="3145536" cy="2011680"/>
          </a:xfrm>
          <a:prstGeom prst="roundRect">
            <a:avLst/>
          </a:prstGeom>
          <a:solidFill>
            <a:srgbClr val="111827"/>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280160" y="3886200"/>
            <a:ext cx="2779776" cy="1828800"/>
          </a:xfrm>
          <a:prstGeom prst="rect">
            <a:avLst/>
          </a:prstGeom>
          <a:noFill/>
        </p:spPr>
        <p:txBody>
          <a:bodyPr wrap="square">
            <a:spAutoFit/>
          </a:bodyPr>
          <a:lstStyle/>
          <a:p>
            <a:pPr>
              <a:defRPr sz="1100" b="1">
                <a:solidFill>
                  <a:srgbClr val="06B6D4"/>
                </a:solidFill>
              </a:defRPr>
            </a:pPr>
            <a:r>
              <a:t>TEAM 404 (EGREEN QUANTA)</a:t>
            </a:r>
          </a:p>
          <a:p>
            <a:pPr>
              <a:defRPr sz="950">
                <a:solidFill>
                  <a:srgbClr val="94A3B8"/>
                </a:solidFill>
              </a:defRPr>
            </a:pPr>
            <a:r>
              <a:t>? Institution: NIT Nagaland</a:t>
            </a:r>
          </a:p>
          <a:p>
            <a:pPr>
              <a:defRPr sz="950">
                <a:solidFill>
                  <a:srgbClr val="94A3B8"/>
                </a:solidFill>
              </a:defRPr>
            </a:pPr>
            <a:r>
              <a:t>? Team Lead: Rohit Gupta (Full-Stack &amp; Cloud)</a:t>
            </a:r>
          </a:p>
          <a:p>
            <a:pPr>
              <a:defRPr sz="950">
                <a:solidFill>
                  <a:srgbClr val="94A3B8"/>
                </a:solidFill>
              </a:defRPr>
            </a:pPr>
            <a:r>
              <a:t>? Core Roles: Quantum ML &amp; Clinical Pipeline Eng.</a:t>
            </a:r>
          </a:p>
          <a:p>
            <a:pPr>
              <a:defRPr sz="950">
                <a:solidFill>
                  <a:srgbClr val="94A3B8"/>
                </a:solidFill>
              </a:defRPr>
            </a:pPr>
            <a:r>
              <a:t>? Status: Live on AWS Elastic Beanstalk</a:t>
            </a:r>
          </a:p>
        </p:txBody>
      </p:sp>
      <p:sp>
        <p:nvSpPr>
          <p:cNvPr id="9" name="Rounded Rectangle 8"/>
          <p:cNvSpPr/>
          <p:nvPr/>
        </p:nvSpPr>
        <p:spPr>
          <a:xfrm>
            <a:off x="4517136" y="3794760"/>
            <a:ext cx="3145536" cy="2011680"/>
          </a:xfrm>
          <a:prstGeom prst="roundRect">
            <a:avLst/>
          </a:prstGeom>
          <a:solidFill>
            <a:srgbClr val="111827"/>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700016" y="3886200"/>
            <a:ext cx="2779776" cy="1828800"/>
          </a:xfrm>
          <a:prstGeom prst="rect">
            <a:avLst/>
          </a:prstGeom>
          <a:noFill/>
        </p:spPr>
        <p:txBody>
          <a:bodyPr wrap="square">
            <a:spAutoFit/>
          </a:bodyPr>
          <a:lstStyle/>
          <a:p>
            <a:pPr>
              <a:defRPr sz="1100" b="1">
                <a:solidFill>
                  <a:srgbClr val="14B8A6"/>
                </a:solidFill>
              </a:defRPr>
            </a:pPr>
            <a:r>
              <a:t>4 CLINICAL PATHOLOGIES</a:t>
            </a:r>
          </a:p>
          <a:p>
            <a:pPr>
              <a:defRPr sz="950">
                <a:solidFill>
                  <a:srgbClr val="94A3B8"/>
                </a:solidFill>
              </a:defRPr>
            </a:pPr>
            <a:r>
              <a:t>? Type 2 Diabetes: 8,348 Balanced Patient Cohort</a:t>
            </a:r>
          </a:p>
          <a:p>
            <a:pPr>
              <a:defRPr sz="950">
                <a:solidFill>
                  <a:srgbClr val="94A3B8"/>
                </a:solidFill>
              </a:defRPr>
            </a:pPr>
            <a:r>
              <a:t>? Heart Disease: 863 UCI Multi-Center Clinical Cohort</a:t>
            </a:r>
          </a:p>
          <a:p>
            <a:pPr>
              <a:defRPr sz="950">
                <a:solidFill>
                  <a:srgbClr val="94A3B8"/>
                </a:solidFill>
              </a:defRPr>
            </a:pPr>
            <a:r>
              <a:t>? Chronic Kidney: 400 Apollo Hospitals India Records</a:t>
            </a:r>
          </a:p>
          <a:p>
            <a:pPr>
              <a:defRPr sz="950">
                <a:solidFill>
                  <a:srgbClr val="94A3B8"/>
                </a:solidFill>
              </a:defRPr>
            </a:pPr>
            <a:r>
              <a:t>? Breast Cancer: 569 Wisconsin Diagnostic Biopsies</a:t>
            </a:r>
          </a:p>
        </p:txBody>
      </p:sp>
      <p:sp>
        <p:nvSpPr>
          <p:cNvPr id="11" name="Rounded Rectangle 10"/>
          <p:cNvSpPr/>
          <p:nvPr/>
        </p:nvSpPr>
        <p:spPr>
          <a:xfrm>
            <a:off x="7936992" y="3794760"/>
            <a:ext cx="3145536" cy="2011680"/>
          </a:xfrm>
          <a:prstGeom prst="roundRect">
            <a:avLst/>
          </a:prstGeom>
          <a:solidFill>
            <a:srgbClr val="111827"/>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119871" y="3886200"/>
            <a:ext cx="2779776" cy="1828800"/>
          </a:xfrm>
          <a:prstGeom prst="rect">
            <a:avLst/>
          </a:prstGeom>
          <a:noFill/>
        </p:spPr>
        <p:txBody>
          <a:bodyPr wrap="square">
            <a:spAutoFit/>
          </a:bodyPr>
          <a:lstStyle/>
          <a:p>
            <a:pPr>
              <a:defRPr sz="1100" b="1">
                <a:solidFill>
                  <a:srgbClr val="10B981"/>
                </a:solidFill>
              </a:defRPr>
            </a:pPr>
            <a:r>
              <a:t>HYBRID PLATFORM STACK</a:t>
            </a:r>
          </a:p>
          <a:p>
            <a:pPr>
              <a:defRPr sz="950">
                <a:solidFill>
                  <a:srgbClr val="94A3B8"/>
                </a:solidFill>
              </a:defRPr>
            </a:pPr>
            <a:r>
              <a:t>? Classical ML: RF + SVM + LR + HGB + XGBoost</a:t>
            </a:r>
          </a:p>
          <a:p>
            <a:pPr>
              <a:defRPr sz="950">
                <a:solidFill>
                  <a:srgbClr val="94A3B8"/>
                </a:solidFill>
              </a:defRPr>
            </a:pPr>
            <a:r>
              <a:t>? Quantum VQC: PennyLane 6-Qubit Angle-RY Ansatz</a:t>
            </a:r>
          </a:p>
          <a:p>
            <a:pPr>
              <a:defRPr sz="950">
                <a:solidFill>
                  <a:srgbClr val="94A3B8"/>
                </a:solidFill>
              </a:defRPr>
            </a:pPr>
            <a:r>
              <a:t>? Calibration: Platt Scaling on Unaugmented Split</a:t>
            </a:r>
          </a:p>
          <a:p>
            <a:pPr>
              <a:defRPr sz="950">
                <a:solidFill>
                  <a:srgbClr val="94A3B8"/>
                </a:solidFill>
              </a:defRPr>
            </a:pPr>
            <a:r>
              <a:t>? Safety Layer: Automated Disagreement Abstention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F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20040"/>
            <a:ext cx="10728655" cy="36576"/>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38912"/>
            <a:ext cx="6400800" cy="256032"/>
          </a:xfrm>
          <a:prstGeom prst="rect">
            <a:avLst/>
          </a:prstGeom>
          <a:noFill/>
        </p:spPr>
        <p:txBody>
          <a:bodyPr wrap="square">
            <a:spAutoFit/>
          </a:bodyPr>
          <a:lstStyle/>
          <a:p>
            <a:pPr>
              <a:defRPr sz="950" b="1">
                <a:solidFill>
                  <a:srgbClr val="06B6D4"/>
                </a:solidFill>
              </a:defRPr>
            </a:pPr>
            <a:r>
              <a:t>BUILD 2026 ? HEALTHCARE &amp; QUANTUM ML TRACK ? SLIDE 02 / 06</a:t>
            </a:r>
          </a:p>
        </p:txBody>
      </p:sp>
      <p:sp>
        <p:nvSpPr>
          <p:cNvPr id="5" name="TextBox 4"/>
          <p:cNvSpPr txBox="1"/>
          <p:nvPr/>
        </p:nvSpPr>
        <p:spPr>
          <a:xfrm>
            <a:off x="7772400" y="438912"/>
            <a:ext cx="3657600" cy="256032"/>
          </a:xfrm>
          <a:prstGeom prst="rect">
            <a:avLst/>
          </a:prstGeom>
          <a:noFill/>
        </p:spPr>
        <p:txBody>
          <a:bodyPr wrap="square">
            <a:spAutoFit/>
          </a:bodyPr>
          <a:lstStyle/>
          <a:p>
            <a:pPr algn="r">
              <a:defRPr sz="950" b="1">
                <a:solidFill>
                  <a:srgbClr val="14B8A6"/>
                </a:solidFill>
              </a:defRPr>
            </a:pPr>
            <a:r>
              <a:t>TEAM 404 ? EGREEN QUANTA</a:t>
            </a:r>
          </a:p>
        </p:txBody>
      </p:sp>
      <p:sp>
        <p:nvSpPr>
          <p:cNvPr id="6" name="TextBox 5"/>
          <p:cNvSpPr txBox="1"/>
          <p:nvPr/>
        </p:nvSpPr>
        <p:spPr>
          <a:xfrm>
            <a:off x="731520" y="658368"/>
            <a:ext cx="10728655" cy="594360"/>
          </a:xfrm>
          <a:prstGeom prst="rect">
            <a:avLst/>
          </a:prstGeom>
          <a:noFill/>
        </p:spPr>
        <p:txBody>
          <a:bodyPr wrap="square">
            <a:spAutoFit/>
          </a:bodyPr>
          <a:lstStyle/>
          <a:p>
            <a:pPr>
              <a:defRPr sz="2200" b="1">
                <a:solidFill>
                  <a:srgbClr val="FFFFFF"/>
                </a:solidFill>
              </a:defRPr>
            </a:pPr>
            <a:r>
              <a:t>Problem &amp; Target Users: The Asymptomatic Blindspot</a:t>
            </a:r>
          </a:p>
        </p:txBody>
      </p:sp>
      <p:sp>
        <p:nvSpPr>
          <p:cNvPr id="7" name="TextBox 6"/>
          <p:cNvSpPr txBox="1"/>
          <p:nvPr/>
        </p:nvSpPr>
        <p:spPr>
          <a:xfrm>
            <a:off x="731520" y="1207008"/>
            <a:ext cx="10728655" cy="320040"/>
          </a:xfrm>
          <a:prstGeom prst="rect">
            <a:avLst/>
          </a:prstGeom>
          <a:noFill/>
        </p:spPr>
        <p:txBody>
          <a:bodyPr wrap="square">
            <a:spAutoFit/>
          </a:bodyPr>
          <a:lstStyle/>
          <a:p>
            <a:pPr>
              <a:defRPr sz="1100">
                <a:solidFill>
                  <a:srgbClr val="94A3B8"/>
                </a:solidFill>
              </a:defRPr>
            </a:pPr>
            <a:r>
              <a:t>Early-stage chronic diseases lack early symptoms, while standard AI calculators mislead when data is uncertain.</a:t>
            </a:r>
          </a:p>
        </p:txBody>
      </p:sp>
      <p:sp>
        <p:nvSpPr>
          <p:cNvPr id="8" name="Rounded Rectangle 7"/>
          <p:cNvSpPr/>
          <p:nvPr/>
        </p:nvSpPr>
        <p:spPr>
          <a:xfrm>
            <a:off x="731520" y="1691640"/>
            <a:ext cx="5212080" cy="2240280"/>
          </a:xfrm>
          <a:prstGeom prst="roundRect">
            <a:avLst/>
          </a:prstGeom>
          <a:solidFill>
            <a:srgbClr val="111827"/>
          </a:solidFill>
          <a:ln w="1270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874520"/>
            <a:ext cx="4663440" cy="1874520"/>
          </a:xfrm>
          <a:prstGeom prst="rect">
            <a:avLst/>
          </a:prstGeom>
          <a:noFill/>
        </p:spPr>
        <p:txBody>
          <a:bodyPr wrap="square">
            <a:spAutoFit/>
          </a:bodyPr>
          <a:lstStyle/>
          <a:p>
            <a:pPr>
              <a:defRPr sz="1200" b="1">
                <a:solidFill>
                  <a:srgbClr val="06B6D4"/>
                </a:solidFill>
              </a:defRPr>
            </a:pPr>
            <a:r>
              <a:t>1. THE CORE PROBLEM</a:t>
            </a:r>
          </a:p>
          <a:p>
            <a:pPr>
              <a:defRPr sz="950">
                <a:solidFill>
                  <a:srgbClr val="94A3B8"/>
                </a:solidFill>
              </a:defRPr>
            </a:pPr>
            <a:r>
              <a:t>? Silent Progression: Cardiometabolic &amp; renal diseases progress asymptomatically for 3-5 years before organ failure.</a:t>
            </a:r>
          </a:p>
          <a:p>
            <a:pPr>
              <a:defRPr sz="950">
                <a:solidFill>
                  <a:srgbClr val="94A3B8"/>
                </a:solidFill>
              </a:defRPr>
            </a:pPr>
            <a:r>
              <a:t>? Non-Linear Correlation: Complex multi-organ biomarkers (e.g. FPG vs. lipids vs. transaminases) elude single-threshold rules.</a:t>
            </a:r>
          </a:p>
          <a:p>
            <a:pPr>
              <a:defRPr sz="950">
                <a:solidFill>
                  <a:srgbClr val="94A3B8"/>
                </a:solidFill>
              </a:defRPr>
            </a:pPr>
            <a:r>
              <a:t>? The AI Overconfidence Trap: Current clinical ML models force a binary output even when inputs are contradictory or out-of-distribution.</a:t>
            </a:r>
          </a:p>
        </p:txBody>
      </p:sp>
      <p:sp>
        <p:nvSpPr>
          <p:cNvPr id="10" name="Rounded Rectangle 9"/>
          <p:cNvSpPr/>
          <p:nvPr/>
        </p:nvSpPr>
        <p:spPr>
          <a:xfrm>
            <a:off x="6248095" y="1691640"/>
            <a:ext cx="5212080" cy="2240280"/>
          </a:xfrm>
          <a:prstGeom prst="roundRect">
            <a:avLst/>
          </a:prstGeom>
          <a:solidFill>
            <a:srgbClr val="111827"/>
          </a:solidFill>
          <a:ln w="1270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22415" y="1874520"/>
            <a:ext cx="4663440" cy="1874520"/>
          </a:xfrm>
          <a:prstGeom prst="rect">
            <a:avLst/>
          </a:prstGeom>
          <a:noFill/>
        </p:spPr>
        <p:txBody>
          <a:bodyPr wrap="square">
            <a:spAutoFit/>
          </a:bodyPr>
          <a:lstStyle/>
          <a:p>
            <a:pPr>
              <a:defRPr sz="1200" b="1">
                <a:solidFill>
                  <a:srgbClr val="14B8A6"/>
                </a:solidFill>
              </a:defRPr>
            </a:pPr>
            <a:r>
              <a:t>2. WHO FACES THIS PROBLEM?</a:t>
            </a:r>
          </a:p>
          <a:p>
            <a:pPr>
              <a:defRPr sz="950">
                <a:solidFill>
                  <a:srgbClr val="94A3B8"/>
                </a:solidFill>
              </a:defRPr>
            </a:pPr>
            <a:r>
              <a:t>? Frontline Health Workers: ASHA workers &amp; community nurses conducting rural rapid screening camps without specialists.</a:t>
            </a:r>
          </a:p>
          <a:p>
            <a:pPr>
              <a:defRPr sz="950">
                <a:solidFill>
                  <a:srgbClr val="94A3B8"/>
                </a:solidFill>
              </a:defRPr>
            </a:pPr>
            <a:r>
              <a:t>? Primary Care Physicians: PHC / MBBS doctors managing 80+ patients/day needing fast, defensible triage decisions.</a:t>
            </a:r>
          </a:p>
          <a:p>
            <a:pPr>
              <a:defRPr sz="950">
                <a:solidFill>
                  <a:srgbClr val="94A3B8"/>
                </a:solidFill>
              </a:defRPr>
            </a:pPr>
            <a:r>
              <a:t>? High-Throughput Labs: Diagnostic testing centers screening batch routine health panels for subtle sub-clinical risk patterns.</a:t>
            </a:r>
          </a:p>
        </p:txBody>
      </p:sp>
      <p:sp>
        <p:nvSpPr>
          <p:cNvPr id="12" name="Rounded Rectangle 11"/>
          <p:cNvSpPr/>
          <p:nvPr/>
        </p:nvSpPr>
        <p:spPr>
          <a:xfrm>
            <a:off x="731520" y="4160520"/>
            <a:ext cx="5212080" cy="2240280"/>
          </a:xfrm>
          <a:prstGeom prst="roundRect">
            <a:avLst/>
          </a:prstGeom>
          <a:solidFill>
            <a:srgbClr val="111827"/>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4343400"/>
            <a:ext cx="4663440" cy="1874520"/>
          </a:xfrm>
          <a:prstGeom prst="rect">
            <a:avLst/>
          </a:prstGeom>
          <a:noFill/>
        </p:spPr>
        <p:txBody>
          <a:bodyPr wrap="square">
            <a:spAutoFit/>
          </a:bodyPr>
          <a:lstStyle/>
          <a:p>
            <a:pPr>
              <a:defRPr sz="1200" b="1">
                <a:solidFill>
                  <a:srgbClr val="F59E0B"/>
                </a:solidFill>
              </a:defRPr>
            </a:pPr>
            <a:r>
              <a:t>3. HOW THEY HANDLE IT TODAY &amp; WHAT'S MISSING</a:t>
            </a:r>
          </a:p>
          <a:p>
            <a:pPr>
              <a:defRPr sz="950">
                <a:solidFill>
                  <a:srgbClr val="94A3B8"/>
                </a:solidFill>
              </a:defRPr>
            </a:pPr>
            <a:r>
              <a:t>? Current Methods: Heuristic calculators (Framingham, simple BMI, single fasting glucose cuts) or siloed hospital ML models.</a:t>
            </a:r>
          </a:p>
          <a:p>
            <a:pPr>
              <a:defRPr sz="950">
                <a:solidFill>
                  <a:srgbClr val="94A3B8"/>
                </a:solidFill>
              </a:defRPr>
            </a:pPr>
            <a:r>
              <a:t>? What's Missing: Consensus: No cross-verification between complementary algorithmic models to detect decision divergence.</a:t>
            </a:r>
          </a:p>
          <a:p>
            <a:pPr>
              <a:defRPr sz="950">
                <a:solidFill>
                  <a:srgbClr val="94A3B8"/>
                </a:solidFill>
              </a:defRPr>
            </a:pPr>
            <a:r>
              <a:t>? What's Missing: Abstention: Existing software never says 'I am uncertain ? do not trust this prediction.' ArogyaDristi does.</a:t>
            </a:r>
          </a:p>
        </p:txBody>
      </p:sp>
      <p:sp>
        <p:nvSpPr>
          <p:cNvPr id="14" name="Rounded Rectangle 13"/>
          <p:cNvSpPr/>
          <p:nvPr/>
        </p:nvSpPr>
        <p:spPr>
          <a:xfrm>
            <a:off x="6248095" y="4160520"/>
            <a:ext cx="5212080" cy="2240280"/>
          </a:xfrm>
          <a:prstGeom prst="roundRect">
            <a:avLst/>
          </a:prstGeom>
          <a:solidFill>
            <a:srgbClr val="111827"/>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22415" y="4343400"/>
            <a:ext cx="4663440" cy="1874520"/>
          </a:xfrm>
          <a:prstGeom prst="rect">
            <a:avLst/>
          </a:prstGeom>
          <a:noFill/>
        </p:spPr>
        <p:txBody>
          <a:bodyPr wrap="square">
            <a:spAutoFit/>
          </a:bodyPr>
          <a:lstStyle/>
          <a:p>
            <a:pPr>
              <a:defRPr sz="1200" b="1">
                <a:solidFill>
                  <a:srgbClr val="10B981"/>
                </a:solidFill>
              </a:defRPr>
            </a:pPr>
            <a:r>
              <a:t>4. REAL-WORLD EVIDENCE: WHY IT MATTERS</a:t>
            </a:r>
          </a:p>
          <a:p>
            <a:pPr>
              <a:defRPr sz="950">
                <a:solidFill>
                  <a:srgbClr val="94A3B8"/>
                </a:solidFill>
              </a:defRPr>
            </a:pPr>
            <a:r>
              <a:t>? ICMR-INDIAB (2023): 101.3M diabetics + 136M pre-diabetics in India; &gt;50% remain undiagnosed until microvascular damage occurs.</a:t>
            </a:r>
          </a:p>
          <a:p>
            <a:pPr>
              <a:defRPr sz="950">
                <a:solidFill>
                  <a:srgbClr val="94A3B8"/>
                </a:solidFill>
              </a:defRPr>
            </a:pPr>
            <a:r>
              <a:t>? Apollo Nephrology Data: 80%+ of CKD patients present only at Stage 4/5 when renal replacement therapy is irreversible.</a:t>
            </a:r>
          </a:p>
          <a:p>
            <a:pPr>
              <a:defRPr sz="950">
                <a:solidFill>
                  <a:srgbClr val="94A3B8"/>
                </a:solidFill>
              </a:defRPr>
            </a:pPr>
            <a:r>
              <a:t>? Cardiovascular Burden: Cardiovascular disease causes ~27% of all Indian mortality, with 52% of deaths occurring before age 70.</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F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20040"/>
            <a:ext cx="10728655" cy="36576"/>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38912"/>
            <a:ext cx="6400800" cy="256032"/>
          </a:xfrm>
          <a:prstGeom prst="rect">
            <a:avLst/>
          </a:prstGeom>
          <a:noFill/>
        </p:spPr>
        <p:txBody>
          <a:bodyPr wrap="square">
            <a:spAutoFit/>
          </a:bodyPr>
          <a:lstStyle/>
          <a:p>
            <a:pPr>
              <a:defRPr sz="950" b="1">
                <a:solidFill>
                  <a:srgbClr val="06B6D4"/>
                </a:solidFill>
              </a:defRPr>
            </a:pPr>
            <a:r>
              <a:t>BUILD 2026 ? HEALTHCARE &amp; QUANTUM ML TRACK ? SLIDE 03 / 06</a:t>
            </a:r>
          </a:p>
        </p:txBody>
      </p:sp>
      <p:sp>
        <p:nvSpPr>
          <p:cNvPr id="5" name="TextBox 4"/>
          <p:cNvSpPr txBox="1"/>
          <p:nvPr/>
        </p:nvSpPr>
        <p:spPr>
          <a:xfrm>
            <a:off x="7772400" y="438912"/>
            <a:ext cx="3657600" cy="256032"/>
          </a:xfrm>
          <a:prstGeom prst="rect">
            <a:avLst/>
          </a:prstGeom>
          <a:noFill/>
        </p:spPr>
        <p:txBody>
          <a:bodyPr wrap="square">
            <a:spAutoFit/>
          </a:bodyPr>
          <a:lstStyle/>
          <a:p>
            <a:pPr algn="r">
              <a:defRPr sz="950" b="1">
                <a:solidFill>
                  <a:srgbClr val="14B8A6"/>
                </a:solidFill>
              </a:defRPr>
            </a:pPr>
            <a:r>
              <a:t>TEAM 404 ? EGREEN QUANTA</a:t>
            </a:r>
          </a:p>
        </p:txBody>
      </p:sp>
      <p:sp>
        <p:nvSpPr>
          <p:cNvPr id="6" name="TextBox 5"/>
          <p:cNvSpPr txBox="1"/>
          <p:nvPr/>
        </p:nvSpPr>
        <p:spPr>
          <a:xfrm>
            <a:off x="731520" y="658368"/>
            <a:ext cx="10728655" cy="594360"/>
          </a:xfrm>
          <a:prstGeom prst="rect">
            <a:avLst/>
          </a:prstGeom>
          <a:noFill/>
        </p:spPr>
        <p:txBody>
          <a:bodyPr wrap="square">
            <a:spAutoFit/>
          </a:bodyPr>
          <a:lstStyle/>
          <a:p>
            <a:pPr>
              <a:defRPr sz="2200" b="1">
                <a:solidFill>
                  <a:srgbClr val="FFFFFF"/>
                </a:solidFill>
              </a:defRPr>
            </a:pPr>
            <a:r>
              <a:t>What We Built: Architecture &amp; BUILD 2026 Deliverables</a:t>
            </a:r>
          </a:p>
        </p:txBody>
      </p:sp>
      <p:sp>
        <p:nvSpPr>
          <p:cNvPr id="7" name="TextBox 6"/>
          <p:cNvSpPr txBox="1"/>
          <p:nvPr/>
        </p:nvSpPr>
        <p:spPr>
          <a:xfrm>
            <a:off x="731520" y="1207008"/>
            <a:ext cx="10728655" cy="320040"/>
          </a:xfrm>
          <a:prstGeom prst="rect">
            <a:avLst/>
          </a:prstGeom>
          <a:noFill/>
        </p:spPr>
        <p:txBody>
          <a:bodyPr wrap="square">
            <a:spAutoFit/>
          </a:bodyPr>
          <a:lstStyle/>
          <a:p>
            <a:pPr>
              <a:defRPr sz="1100">
                <a:solidFill>
                  <a:srgbClr val="94A3B8"/>
                </a:solidFill>
              </a:defRPr>
            </a:pPr>
            <a:r>
              <a:t>An end-to-end multi-disease screening pipeline integrating calibrated ensembles with 6-qubit quantum simulation.</a:t>
            </a:r>
          </a:p>
        </p:txBody>
      </p:sp>
      <p:sp>
        <p:nvSpPr>
          <p:cNvPr id="8" name="Rounded Rectangle 7"/>
          <p:cNvSpPr/>
          <p:nvPr/>
        </p:nvSpPr>
        <p:spPr>
          <a:xfrm>
            <a:off x="731520" y="1691640"/>
            <a:ext cx="6583680" cy="4709160"/>
          </a:xfrm>
          <a:prstGeom prst="roundRect">
            <a:avLst/>
          </a:prstGeom>
          <a:solidFill>
            <a:srgbClr val="111827"/>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874519"/>
            <a:ext cx="6035040" cy="4297680"/>
          </a:xfrm>
          <a:prstGeom prst="rect">
            <a:avLst/>
          </a:prstGeom>
          <a:noFill/>
        </p:spPr>
        <p:txBody>
          <a:bodyPr wrap="square">
            <a:spAutoFit/>
          </a:bodyPr>
          <a:lstStyle/>
          <a:p>
            <a:pPr>
              <a:defRPr sz="1100" b="1">
                <a:solidFill>
                  <a:srgbClr val="14B8A6"/>
                </a:solidFill>
              </a:defRPr>
            </a:pPr>
            <a:r>
              <a:t>PIPELINE FLOW: INPUT ? QUANTUM/CLASSICAL CORE ? CONSENSUS</a:t>
            </a:r>
          </a:p>
          <a:p>
            <a:pPr>
              <a:defRPr sz="950" b="1">
                <a:solidFill>
                  <a:srgbClr val="FFFFFF"/>
                </a:solidFill>
              </a:defRPr>
            </a:pPr>
            <a:r>
              <a:t>? 1. Clinical Input &amp; Sentinel Check</a:t>
            </a:r>
          </a:p>
          <a:p>
            <a:pPr>
              <a:defRPr sz="850">
                <a:solidFill>
                  <a:srgbClr val="94A3B8"/>
                </a:solidFill>
              </a:defRPr>
            </a:pPr>
            <a:r>
              <a:t>   Accepts standard lab panels (Age, SBP, DBP, Glucose, Lipids, Creatinine). Sentinel scanner rejects physiological zeros (e.g. Glucose=0) to prevent corrupted inputs.</a:t>
            </a:r>
          </a:p>
          <a:p>
            <a:pPr>
              <a:defRPr sz="950" b="1">
                <a:solidFill>
                  <a:srgbClr val="FFFFFF"/>
                </a:solidFill>
              </a:defRPr>
            </a:pPr>
            <a:r>
              <a:t>? 2. Dual-Stream Preprocessing</a:t>
            </a:r>
          </a:p>
          <a:p>
            <a:pPr>
              <a:defRPr sz="850">
                <a:solidFill>
                  <a:srgbClr val="94A3B8"/>
                </a:solidFill>
              </a:defRPr>
            </a:pPr>
            <a:r>
              <a:t>   Stream A: StandardScaler for Classical ML. Stream B: MinMaxScaler to [0, ?] for Angle RY Quantum Hilbert Space embedding on a 6-qubit register.</a:t>
            </a:r>
          </a:p>
          <a:p>
            <a:pPr>
              <a:defRPr sz="950" b="1">
                <a:solidFill>
                  <a:srgbClr val="FFFFFF"/>
                </a:solidFill>
              </a:defRPr>
            </a:pPr>
            <a:r>
              <a:t>? 3. Classical 5-Model Ensemble</a:t>
            </a:r>
          </a:p>
          <a:p>
            <a:pPr>
              <a:defRPr sz="850">
                <a:solidFill>
                  <a:srgbClr val="94A3B8"/>
                </a:solidFill>
              </a:defRPr>
            </a:pPr>
            <a:r>
              <a:t>   Random Forest + Support Vector Machine + Logistic Regression + HistGradientBoosting + XGBoost. Evaluates baseline non-linear feature interactions.</a:t>
            </a:r>
          </a:p>
          <a:p>
            <a:pPr>
              <a:defRPr sz="950" b="1">
                <a:solidFill>
                  <a:srgbClr val="FFFFFF"/>
                </a:solidFill>
              </a:defRPr>
            </a:pPr>
            <a:r>
              <a:t>? 4. 6-Qubit VQC Simulation</a:t>
            </a:r>
          </a:p>
          <a:p>
            <a:pPr>
              <a:defRPr sz="850">
                <a:solidFill>
                  <a:srgbClr val="94A3B8"/>
                </a:solidFill>
              </a:defRPr>
            </a:pPr>
            <a:r>
              <a:t>   Parameterized 2-layer Variational Quantum Circuit (RY rotation + Ring CNOT entanglement) executed via PennyLane statevector simulation in &lt;2ms.</a:t>
            </a:r>
          </a:p>
          <a:p>
            <a:pPr>
              <a:defRPr sz="950" b="1">
                <a:solidFill>
                  <a:srgbClr val="FFFFFF"/>
                </a:solidFill>
              </a:defRPr>
            </a:pPr>
            <a:r>
              <a:t>? 5. Platt Calibration &amp; Consensus</a:t>
            </a:r>
          </a:p>
          <a:p>
            <a:pPr>
              <a:defRPr sz="850">
                <a:solidFill>
                  <a:srgbClr val="94A3B8"/>
                </a:solidFill>
              </a:defRPr>
            </a:pPr>
            <a:r>
              <a:t>   Applies sigmoid probability calibration on validation holdout. Measures model spread. If models diverge (|c_prob - q_prob| &gt; 0.85), triggers safety abstention.</a:t>
            </a:r>
          </a:p>
        </p:txBody>
      </p:sp>
      <p:sp>
        <p:nvSpPr>
          <p:cNvPr id="10" name="Rounded Rectangle 9"/>
          <p:cNvSpPr/>
          <p:nvPr/>
        </p:nvSpPr>
        <p:spPr>
          <a:xfrm>
            <a:off x="7589520" y="1691640"/>
            <a:ext cx="3870655" cy="2240280"/>
          </a:xfrm>
          <a:prstGeom prst="roundRect">
            <a:avLst/>
          </a:prstGeom>
          <a:solidFill>
            <a:srgbClr val="111827"/>
          </a:solidFill>
          <a:ln w="1270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0" y="1828800"/>
            <a:ext cx="3504895" cy="1920240"/>
          </a:xfrm>
          <a:prstGeom prst="rect">
            <a:avLst/>
          </a:prstGeom>
          <a:noFill/>
        </p:spPr>
        <p:txBody>
          <a:bodyPr wrap="square">
            <a:spAutoFit/>
          </a:bodyPr>
          <a:lstStyle/>
          <a:p>
            <a:pPr>
              <a:defRPr sz="1100" b="1">
                <a:solidFill>
                  <a:srgbClr val="06B6D4"/>
                </a:solidFill>
              </a:defRPr>
            </a:pPr>
            <a:r>
              <a:t>CORE TECHNOLOGIES &amp; INTEGRATIONS</a:t>
            </a:r>
          </a:p>
          <a:p>
            <a:pPr>
              <a:defRPr sz="900">
                <a:solidFill>
                  <a:srgbClr val="94A3B8"/>
                </a:solidFill>
              </a:defRPr>
            </a:pPr>
            <a:r>
              <a:t>? Quantum Engine: PennyLane 0.38 + Qiskit Aer (6-Qubit VQC)</a:t>
            </a:r>
          </a:p>
          <a:p>
            <a:pPr>
              <a:defRPr sz="900">
                <a:solidFill>
                  <a:srgbClr val="94A3B8"/>
                </a:solidFill>
              </a:defRPr>
            </a:pPr>
            <a:r>
              <a:t>? Classical ML: Scikit-Learn 1.5, XGBoost, Platt Calibrator</a:t>
            </a:r>
          </a:p>
          <a:p>
            <a:pPr>
              <a:defRPr sz="900">
                <a:solidFill>
                  <a:srgbClr val="94A3B8"/>
                </a:solidFill>
              </a:defRPr>
            </a:pPr>
            <a:r>
              <a:t>? Backend API: FastAPI, Python 3.13, Pydantic v2</a:t>
            </a:r>
          </a:p>
          <a:p>
            <a:pPr>
              <a:defRPr sz="900">
                <a:solidFill>
                  <a:srgbClr val="94A3B8"/>
                </a:solidFill>
              </a:defRPr>
            </a:pPr>
            <a:r>
              <a:t>? Web Client: React 18, Vite, TypeScript, Tailwind CSS</a:t>
            </a:r>
          </a:p>
          <a:p>
            <a:pPr>
              <a:defRPr sz="900">
                <a:solidFill>
                  <a:srgbClr val="94A3B8"/>
                </a:solidFill>
              </a:defRPr>
            </a:pPr>
            <a:r>
              <a:t>? Cloud &amp; Mobile: AWS Elastic Beanstalk (Docker), FlutterFlow</a:t>
            </a:r>
          </a:p>
        </p:txBody>
      </p:sp>
      <p:sp>
        <p:nvSpPr>
          <p:cNvPr id="12" name="Rounded Rectangle 11"/>
          <p:cNvSpPr/>
          <p:nvPr/>
        </p:nvSpPr>
        <p:spPr>
          <a:xfrm>
            <a:off x="7589520" y="4160520"/>
            <a:ext cx="3870655" cy="2240280"/>
          </a:xfrm>
          <a:prstGeom prst="roundRect">
            <a:avLst/>
          </a:prstGeom>
          <a:solidFill>
            <a:srgbClr val="111827"/>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0" y="4297680"/>
            <a:ext cx="3504895" cy="1920240"/>
          </a:xfrm>
          <a:prstGeom prst="rect">
            <a:avLst/>
          </a:prstGeom>
          <a:noFill/>
        </p:spPr>
        <p:txBody>
          <a:bodyPr wrap="square">
            <a:spAutoFit/>
          </a:bodyPr>
          <a:lstStyle/>
          <a:p>
            <a:pPr>
              <a:defRPr sz="1100" b="1">
                <a:solidFill>
                  <a:srgbClr val="10B981"/>
                </a:solidFill>
              </a:defRPr>
            </a:pPr>
            <a:r>
              <a:t>WHAT WAS BUILT DURING BUILD 2026</a:t>
            </a:r>
          </a:p>
          <a:p>
            <a:pPr>
              <a:defRPr sz="850">
                <a:solidFill>
                  <a:srgbClr val="FFFFFF"/>
                </a:solidFill>
              </a:defRPr>
            </a:pPr>
            <a:r>
              <a:t>? Full Hybrid Consensus Engine: Integrated cross-paradigm voting &amp; disagreement metric.</a:t>
            </a:r>
          </a:p>
          <a:p>
            <a:pPr>
              <a:defRPr sz="850">
                <a:solidFill>
                  <a:srgbClr val="FFFFFF"/>
                </a:solidFill>
              </a:defRPr>
            </a:pPr>
            <a:r>
              <a:t>? Platt Probability Calibration: Fitted on unaugmented validation splits (zero test leakage).</a:t>
            </a:r>
          </a:p>
          <a:p>
            <a:pPr>
              <a:defRPr sz="850">
                <a:solidFill>
                  <a:srgbClr val="FFFFFF"/>
                </a:solidFill>
              </a:defRPr>
            </a:pPr>
            <a:r>
              <a:t>? Automated Abstention Safeguards: Built sentinel &amp; OOD safety rejection triggers.</a:t>
            </a:r>
          </a:p>
          <a:p>
            <a:pPr>
              <a:defRPr sz="850">
                <a:solidFill>
                  <a:srgbClr val="FFFFFF"/>
                </a:solidFill>
              </a:defRPr>
            </a:pPr>
            <a:r>
              <a:t>? Interactive Web SPA &amp; Triage: ASHA/MD dual modes, batch CSV triage, and test split cards.</a:t>
            </a:r>
          </a:p>
          <a:p>
            <a:pPr>
              <a:defRPr sz="850">
                <a:solidFill>
                  <a:srgbClr val="FFFFFF"/>
                </a:solidFill>
              </a:defRPr>
            </a:pPr>
            <a:r>
              <a:t>? AWS Docker CI/CD &amp; Tests: 71 backend + 26 frontend passing tests; live EB deploy.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F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20040"/>
            <a:ext cx="10728655" cy="36576"/>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38912"/>
            <a:ext cx="6400800" cy="256032"/>
          </a:xfrm>
          <a:prstGeom prst="rect">
            <a:avLst/>
          </a:prstGeom>
          <a:noFill/>
        </p:spPr>
        <p:txBody>
          <a:bodyPr wrap="square">
            <a:spAutoFit/>
          </a:bodyPr>
          <a:lstStyle/>
          <a:p>
            <a:pPr>
              <a:defRPr sz="950" b="1">
                <a:solidFill>
                  <a:srgbClr val="06B6D4"/>
                </a:solidFill>
              </a:defRPr>
            </a:pPr>
            <a:r>
              <a:t>BUILD 2026 ? HEALTHCARE &amp; QUANTUM ML TRACK ? SLIDE 04 / 06</a:t>
            </a:r>
          </a:p>
        </p:txBody>
      </p:sp>
      <p:sp>
        <p:nvSpPr>
          <p:cNvPr id="5" name="TextBox 4"/>
          <p:cNvSpPr txBox="1"/>
          <p:nvPr/>
        </p:nvSpPr>
        <p:spPr>
          <a:xfrm>
            <a:off x="7772400" y="438912"/>
            <a:ext cx="3657600" cy="256032"/>
          </a:xfrm>
          <a:prstGeom prst="rect">
            <a:avLst/>
          </a:prstGeom>
          <a:noFill/>
        </p:spPr>
        <p:txBody>
          <a:bodyPr wrap="square">
            <a:spAutoFit/>
          </a:bodyPr>
          <a:lstStyle/>
          <a:p>
            <a:pPr algn="r">
              <a:defRPr sz="950" b="1">
                <a:solidFill>
                  <a:srgbClr val="14B8A6"/>
                </a:solidFill>
              </a:defRPr>
            </a:pPr>
            <a:r>
              <a:t>TEAM 404 ? EGREEN QUANTA</a:t>
            </a:r>
          </a:p>
        </p:txBody>
      </p:sp>
      <p:sp>
        <p:nvSpPr>
          <p:cNvPr id="6" name="TextBox 5"/>
          <p:cNvSpPr txBox="1"/>
          <p:nvPr/>
        </p:nvSpPr>
        <p:spPr>
          <a:xfrm>
            <a:off x="731520" y="658368"/>
            <a:ext cx="10728655" cy="594360"/>
          </a:xfrm>
          <a:prstGeom prst="rect">
            <a:avLst/>
          </a:prstGeom>
          <a:noFill/>
        </p:spPr>
        <p:txBody>
          <a:bodyPr wrap="square">
            <a:spAutoFit/>
          </a:bodyPr>
          <a:lstStyle/>
          <a:p>
            <a:pPr>
              <a:defRPr sz="2200" b="1">
                <a:solidFill>
                  <a:srgbClr val="FFFFFF"/>
                </a:solidFill>
              </a:defRPr>
            </a:pPr>
            <a:r>
              <a:t>Working Demo &amp; Empirical Results: 100% Tested &amp; Live</a:t>
            </a:r>
          </a:p>
        </p:txBody>
      </p:sp>
      <p:sp>
        <p:nvSpPr>
          <p:cNvPr id="7" name="TextBox 6"/>
          <p:cNvSpPr txBox="1"/>
          <p:nvPr/>
        </p:nvSpPr>
        <p:spPr>
          <a:xfrm>
            <a:off x="731520" y="1207008"/>
            <a:ext cx="10728655" cy="320040"/>
          </a:xfrm>
          <a:prstGeom prst="rect">
            <a:avLst/>
          </a:prstGeom>
          <a:noFill/>
        </p:spPr>
        <p:txBody>
          <a:bodyPr wrap="square">
            <a:spAutoFit/>
          </a:bodyPr>
          <a:lstStyle/>
          <a:p>
            <a:pPr>
              <a:defRPr sz="1100">
                <a:solidFill>
                  <a:srgbClr val="94A3B8"/>
                </a:solidFill>
              </a:defRPr>
            </a:pPr>
            <a:r>
              <a:t>Live containerized platform running on AWS Elastic Beanstalk and verified with 97 passing automated tests.</a:t>
            </a:r>
          </a:p>
        </p:txBody>
      </p:sp>
      <p:sp>
        <p:nvSpPr>
          <p:cNvPr id="8" name="Rounded Rectangle 7"/>
          <p:cNvSpPr/>
          <p:nvPr/>
        </p:nvSpPr>
        <p:spPr>
          <a:xfrm>
            <a:off x="731520" y="1691640"/>
            <a:ext cx="3328416" cy="4709160"/>
          </a:xfrm>
          <a:prstGeom prst="roundRect">
            <a:avLst/>
          </a:prstGeom>
          <a:solidFill>
            <a:srgbClr val="111827"/>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1874519"/>
            <a:ext cx="2871216" cy="4297680"/>
          </a:xfrm>
          <a:prstGeom prst="rect">
            <a:avLst/>
          </a:prstGeom>
          <a:noFill/>
        </p:spPr>
        <p:txBody>
          <a:bodyPr wrap="square">
            <a:spAutoFit/>
          </a:bodyPr>
          <a:lstStyle/>
          <a:p>
            <a:pPr>
              <a:defRPr sz="1100" b="1">
                <a:solidFill>
                  <a:srgbClr val="14B8A6"/>
                </a:solidFill>
              </a:defRPr>
            </a:pPr>
            <a:r>
              <a:t>1. VERIFIED USER FLOW</a:t>
            </a:r>
          </a:p>
          <a:p>
            <a:pPr>
              <a:defRPr sz="950" b="1">
                <a:solidFill>
                  <a:srgbClr val="FFFFFF"/>
                </a:solidFill>
              </a:defRPr>
            </a:pPr>
            <a:r>
              <a:t>? Disease Selector</a:t>
            </a:r>
          </a:p>
          <a:p>
            <a:pPr>
              <a:defRPr sz="850">
                <a:solidFill>
                  <a:srgbClr val="94A3B8"/>
                </a:solidFill>
              </a:defRPr>
            </a:pPr>
            <a:r>
              <a:t>   Toggle across Diabetes, Heart Disease, CKD, or Breast Cancer.</a:t>
            </a:r>
          </a:p>
          <a:p>
            <a:pPr>
              <a:defRPr sz="950" b="1">
                <a:solidFill>
                  <a:srgbClr val="FFFFFF"/>
                </a:solidFill>
              </a:defRPr>
            </a:pPr>
            <a:r>
              <a:t>? Biomarker Input</a:t>
            </a:r>
          </a:p>
          <a:p>
            <a:pPr>
              <a:defRPr sz="850">
                <a:solidFill>
                  <a:srgbClr val="94A3B8"/>
                </a:solidFill>
              </a:defRPr>
            </a:pPr>
            <a:r>
              <a:t>   Intake vitals with 1-click clinical presets (Low, Intermediate, High Risk) or median resets.</a:t>
            </a:r>
          </a:p>
          <a:p>
            <a:pPr>
              <a:defRPr sz="950" b="1">
                <a:solidFill>
                  <a:srgbClr val="FFFFFF"/>
                </a:solidFill>
              </a:defRPr>
            </a:pPr>
            <a:r>
              <a:t>? Simulator Selection</a:t>
            </a:r>
          </a:p>
          <a:p>
            <a:pPr>
              <a:defRPr sz="850">
                <a:solidFill>
                  <a:srgbClr val="94A3B8"/>
                </a:solidFill>
              </a:defRPr>
            </a:pPr>
            <a:r>
              <a:t>   Choose from 6 quantum simulators (NumPy statevector, PennyLane, Lightning C++, Qiskit Aer).</a:t>
            </a:r>
          </a:p>
          <a:p>
            <a:pPr>
              <a:defRPr sz="950" b="1">
                <a:solidFill>
                  <a:srgbClr val="FFFFFF"/>
                </a:solidFill>
              </a:defRPr>
            </a:pPr>
            <a:r>
              <a:t>? Execute Analysis</a:t>
            </a:r>
          </a:p>
          <a:p>
            <a:pPr>
              <a:defRPr sz="850">
                <a:solidFill>
                  <a:srgbClr val="94A3B8"/>
                </a:solidFill>
              </a:defRPr>
            </a:pPr>
            <a:r>
              <a:t>   Sub-millisecond inference with live animated quantum pipeline trace.</a:t>
            </a:r>
          </a:p>
          <a:p>
            <a:pPr>
              <a:defRPr sz="950" b="1">
                <a:solidFill>
                  <a:srgbClr val="FFFFFF"/>
                </a:solidFill>
              </a:defRPr>
            </a:pPr>
            <a:r>
              <a:t>? Diagnostic Dashboard</a:t>
            </a:r>
          </a:p>
          <a:p>
            <a:pPr>
              <a:defRPr sz="850">
                <a:solidFill>
                  <a:srgbClr val="94A3B8"/>
                </a:solidFill>
              </a:defRPr>
            </a:pPr>
            <a:r>
              <a:t>   Interactive Risk Gauge, Consensus Agreement, Patient Radar Chart, &amp; PDF Clinical Memo.</a:t>
            </a:r>
          </a:p>
        </p:txBody>
      </p:sp>
      <p:sp>
        <p:nvSpPr>
          <p:cNvPr id="10" name="Rounded Rectangle 9"/>
          <p:cNvSpPr/>
          <p:nvPr/>
        </p:nvSpPr>
        <p:spPr>
          <a:xfrm>
            <a:off x="4425696" y="1691640"/>
            <a:ext cx="3328416" cy="4709160"/>
          </a:xfrm>
          <a:prstGeom prst="roundRect">
            <a:avLst/>
          </a:prstGeom>
          <a:solidFill>
            <a:srgbClr val="111827"/>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54296" y="1874519"/>
            <a:ext cx="2871216" cy="4297680"/>
          </a:xfrm>
          <a:prstGeom prst="rect">
            <a:avLst/>
          </a:prstGeom>
          <a:noFill/>
        </p:spPr>
        <p:txBody>
          <a:bodyPr wrap="square">
            <a:spAutoFit/>
          </a:bodyPr>
          <a:lstStyle/>
          <a:p>
            <a:pPr>
              <a:defRPr sz="1100" b="1">
                <a:solidFill>
                  <a:srgbClr val="06B6D4"/>
                </a:solidFill>
              </a:defRPr>
            </a:pPr>
            <a:r>
              <a:t>2. REAL TEST SUITE RESULTS</a:t>
            </a:r>
          </a:p>
          <a:p>
            <a:pPr>
              <a:defRPr sz="950" b="1">
                <a:solidFill>
                  <a:srgbClr val="10B981"/>
                </a:solidFill>
              </a:defRPr>
            </a:pPr>
            <a:r>
              <a:t>? Backend Tests:</a:t>
            </a:r>
          </a:p>
          <a:p>
            <a:pPr>
              <a:defRPr sz="850">
                <a:solidFill>
                  <a:srgbClr val="94A3B8"/>
                </a:solidFill>
              </a:defRPr>
            </a:pPr>
            <a:r>
              <a:t>   71 / 71 Tests Passed (pytest 8.3)</a:t>
            </a:r>
          </a:p>
          <a:p>
            <a:pPr>
              <a:defRPr sz="950" b="1">
                <a:solidFill>
                  <a:srgbClr val="10B981"/>
                </a:solidFill>
              </a:defRPr>
            </a:pPr>
            <a:r>
              <a:t>? Frontend Tests:</a:t>
            </a:r>
          </a:p>
          <a:p>
            <a:pPr>
              <a:defRPr sz="850">
                <a:solidFill>
                  <a:srgbClr val="94A3B8"/>
                </a:solidFill>
              </a:defRPr>
            </a:pPr>
            <a:r>
              <a:t>   26 / 26 Tests Passed (vitest 4.1)</a:t>
            </a:r>
          </a:p>
          <a:p>
            <a:pPr>
              <a:defRPr sz="950" b="1">
                <a:solidFill>
                  <a:srgbClr val="10B981"/>
                </a:solidFill>
              </a:defRPr>
            </a:pPr>
            <a:r>
              <a:t>? Inference Latency:</a:t>
            </a:r>
          </a:p>
          <a:p>
            <a:pPr>
              <a:defRPr sz="850">
                <a:solidFill>
                  <a:srgbClr val="94A3B8"/>
                </a:solidFill>
              </a:defRPr>
            </a:pPr>
            <a:r>
              <a:t>   &lt; 3 ms local | &lt; 100 ms AWS</a:t>
            </a:r>
          </a:p>
          <a:p>
            <a:pPr>
              <a:defRPr sz="950" b="1">
                <a:solidFill>
                  <a:srgbClr val="10B981"/>
                </a:solidFill>
              </a:defRPr>
            </a:pPr>
            <a:r>
              <a:t>? Diabetes Cohort:</a:t>
            </a:r>
          </a:p>
          <a:p>
            <a:pPr>
              <a:defRPr sz="850">
                <a:solidFill>
                  <a:srgbClr val="94A3B8"/>
                </a:solidFill>
              </a:defRPr>
            </a:pPr>
            <a:r>
              <a:t>   8,348 Patients (Balanced, ICMR-INDIAB)</a:t>
            </a:r>
          </a:p>
          <a:p>
            <a:pPr>
              <a:defRPr sz="950" b="1">
                <a:solidFill>
                  <a:srgbClr val="10B981"/>
                </a:solidFill>
              </a:defRPr>
            </a:pPr>
            <a:r>
              <a:t>? Heart Cohort:</a:t>
            </a:r>
          </a:p>
          <a:p>
            <a:pPr>
              <a:defRPr sz="850">
                <a:solidFill>
                  <a:srgbClr val="94A3B8"/>
                </a:solidFill>
              </a:defRPr>
            </a:pPr>
            <a:r>
              <a:t>   863 Patients (UCI Multi-Center)</a:t>
            </a:r>
          </a:p>
          <a:p>
            <a:pPr>
              <a:defRPr sz="950" b="1">
                <a:solidFill>
                  <a:srgbClr val="10B981"/>
                </a:solidFill>
              </a:defRPr>
            </a:pPr>
            <a:r>
              <a:t>? CKD Cohort:</a:t>
            </a:r>
          </a:p>
          <a:p>
            <a:pPr>
              <a:defRPr sz="850">
                <a:solidFill>
                  <a:srgbClr val="94A3B8"/>
                </a:solidFill>
              </a:defRPr>
            </a:pPr>
            <a:r>
              <a:t>   400 Patients (Apollo Hospitals India)</a:t>
            </a:r>
          </a:p>
          <a:p>
            <a:pPr>
              <a:defRPr sz="950" b="1">
                <a:solidFill>
                  <a:srgbClr val="10B981"/>
                </a:solidFill>
              </a:defRPr>
            </a:pPr>
            <a:r>
              <a:t>? Breast Cancer:</a:t>
            </a:r>
          </a:p>
          <a:p>
            <a:pPr>
              <a:defRPr sz="850">
                <a:solidFill>
                  <a:srgbClr val="94A3B8"/>
                </a:solidFill>
              </a:defRPr>
            </a:pPr>
            <a:r>
              <a:t>   569 Biopsies (Wisconsin Diagnostic)</a:t>
            </a:r>
          </a:p>
        </p:txBody>
      </p:sp>
      <p:sp>
        <p:nvSpPr>
          <p:cNvPr id="12" name="Rounded Rectangle 11"/>
          <p:cNvSpPr/>
          <p:nvPr/>
        </p:nvSpPr>
        <p:spPr>
          <a:xfrm>
            <a:off x="8119872" y="1691640"/>
            <a:ext cx="3328416" cy="4709160"/>
          </a:xfrm>
          <a:prstGeom prst="roundRect">
            <a:avLst/>
          </a:prstGeom>
          <a:solidFill>
            <a:srgbClr val="111827"/>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48472" y="1874519"/>
            <a:ext cx="2871216" cy="4297680"/>
          </a:xfrm>
          <a:prstGeom prst="rect">
            <a:avLst/>
          </a:prstGeom>
          <a:noFill/>
        </p:spPr>
        <p:txBody>
          <a:bodyPr wrap="square">
            <a:spAutoFit/>
          </a:bodyPr>
          <a:lstStyle/>
          <a:p>
            <a:pPr>
              <a:defRPr sz="1100" b="1">
                <a:solidFill>
                  <a:srgbClr val="F59E0B"/>
                </a:solidFill>
              </a:defRPr>
            </a:pPr>
            <a:r>
              <a:t>3. TRANSPARENT DISCLOSURE</a:t>
            </a:r>
          </a:p>
          <a:p>
            <a:pPr>
              <a:defRPr sz="950" b="1">
                <a:solidFill>
                  <a:srgbClr val="FFFFFF"/>
                </a:solidFill>
              </a:defRPr>
            </a:pPr>
            <a:r>
              <a:t>? What Works Now</a:t>
            </a:r>
          </a:p>
          <a:p>
            <a:pPr>
              <a:defRPr sz="850">
                <a:solidFill>
                  <a:srgbClr val="94A3B8"/>
                </a:solidFill>
              </a:defRPr>
            </a:pPr>
            <a:r>
              <a:t>   Full end-to-end pipeline, calibrated probability output, local perturbation explainability, batch CSV processing, and cloud deployment.</a:t>
            </a:r>
          </a:p>
          <a:p>
            <a:pPr>
              <a:defRPr sz="950" b="1">
                <a:solidFill>
                  <a:srgbClr val="FFFFFF"/>
                </a:solidFill>
              </a:defRPr>
            </a:pPr>
            <a:r>
              <a:t>? Quantum Simulation Mode</a:t>
            </a:r>
          </a:p>
          <a:p>
            <a:pPr>
              <a:defRPr sz="850">
                <a:solidFill>
                  <a:srgbClr val="94A3B8"/>
                </a:solidFill>
              </a:defRPr>
            </a:pPr>
            <a:r>
              <a:t>   All VQC circuits are simulated via statevectors on classical CPUs. No claims of quantum supremacy or clinical diagnostic finality.</a:t>
            </a:r>
          </a:p>
          <a:p>
            <a:pPr>
              <a:defRPr sz="950" b="1">
                <a:solidFill>
                  <a:srgbClr val="FFFFFF"/>
                </a:solidFill>
              </a:defRPr>
            </a:pPr>
            <a:r>
              <a:t>? Decision Support Only</a:t>
            </a:r>
          </a:p>
          <a:p>
            <a:pPr>
              <a:defRPr sz="850">
                <a:solidFill>
                  <a:srgbClr val="94A3B8"/>
                </a:solidFill>
              </a:defRPr>
            </a:pPr>
            <a:r>
              <a:t>   Platform provides assistive triage probabilities. Defers definitive medical diagnosis to licensed physicians.</a:t>
            </a:r>
          </a:p>
          <a:p>
            <a:pPr>
              <a:defRPr sz="950" b="1">
                <a:solidFill>
                  <a:srgbClr val="FFFFFF"/>
                </a:solidFill>
              </a:defRPr>
            </a:pPr>
            <a:r>
              <a:t>? Mock Preview Fallback</a:t>
            </a:r>
          </a:p>
          <a:p>
            <a:pPr>
              <a:defRPr sz="850">
                <a:solidFill>
                  <a:srgbClr val="94A3B8"/>
                </a:solidFill>
              </a:defRPr>
            </a:pPr>
            <a:r>
              <a:t>   A clearly watermarked synthetic demo preview exists solely if the live backend is disconnected.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F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20040"/>
            <a:ext cx="10728655" cy="36576"/>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38912"/>
            <a:ext cx="6400800" cy="256032"/>
          </a:xfrm>
          <a:prstGeom prst="rect">
            <a:avLst/>
          </a:prstGeom>
          <a:noFill/>
        </p:spPr>
        <p:txBody>
          <a:bodyPr wrap="square">
            <a:spAutoFit/>
          </a:bodyPr>
          <a:lstStyle/>
          <a:p>
            <a:pPr>
              <a:defRPr sz="950" b="1">
                <a:solidFill>
                  <a:srgbClr val="06B6D4"/>
                </a:solidFill>
              </a:defRPr>
            </a:pPr>
            <a:r>
              <a:t>BUILD 2026 ? HEALTHCARE &amp; QUANTUM ML TRACK ? SLIDE 05 / 06</a:t>
            </a:r>
          </a:p>
        </p:txBody>
      </p:sp>
      <p:sp>
        <p:nvSpPr>
          <p:cNvPr id="5" name="TextBox 4"/>
          <p:cNvSpPr txBox="1"/>
          <p:nvPr/>
        </p:nvSpPr>
        <p:spPr>
          <a:xfrm>
            <a:off x="7772400" y="438912"/>
            <a:ext cx="3657600" cy="256032"/>
          </a:xfrm>
          <a:prstGeom prst="rect">
            <a:avLst/>
          </a:prstGeom>
          <a:noFill/>
        </p:spPr>
        <p:txBody>
          <a:bodyPr wrap="square">
            <a:spAutoFit/>
          </a:bodyPr>
          <a:lstStyle/>
          <a:p>
            <a:pPr algn="r">
              <a:defRPr sz="950" b="1">
                <a:solidFill>
                  <a:srgbClr val="14B8A6"/>
                </a:solidFill>
              </a:defRPr>
            </a:pPr>
            <a:r>
              <a:t>TEAM 404 ? EGREEN QUANTA</a:t>
            </a:r>
          </a:p>
        </p:txBody>
      </p:sp>
      <p:sp>
        <p:nvSpPr>
          <p:cNvPr id="6" name="TextBox 5"/>
          <p:cNvSpPr txBox="1"/>
          <p:nvPr/>
        </p:nvSpPr>
        <p:spPr>
          <a:xfrm>
            <a:off x="731520" y="658368"/>
            <a:ext cx="10728655" cy="594360"/>
          </a:xfrm>
          <a:prstGeom prst="rect">
            <a:avLst/>
          </a:prstGeom>
          <a:noFill/>
        </p:spPr>
        <p:txBody>
          <a:bodyPr wrap="square">
            <a:spAutoFit/>
          </a:bodyPr>
          <a:lstStyle/>
          <a:p>
            <a:pPr>
              <a:defRPr sz="2200" b="1">
                <a:solidFill>
                  <a:srgbClr val="FFFFFF"/>
                </a:solidFill>
              </a:defRPr>
            </a:pPr>
            <a:r>
              <a:t>Ingenuity &amp; Technical Decisions: Why Hybrid Consensus?</a:t>
            </a:r>
          </a:p>
        </p:txBody>
      </p:sp>
      <p:sp>
        <p:nvSpPr>
          <p:cNvPr id="7" name="TextBox 6"/>
          <p:cNvSpPr txBox="1"/>
          <p:nvPr/>
        </p:nvSpPr>
        <p:spPr>
          <a:xfrm>
            <a:off x="731520" y="1207008"/>
            <a:ext cx="10728655" cy="320040"/>
          </a:xfrm>
          <a:prstGeom prst="rect">
            <a:avLst/>
          </a:prstGeom>
          <a:noFill/>
        </p:spPr>
        <p:txBody>
          <a:bodyPr wrap="square">
            <a:spAutoFit/>
          </a:bodyPr>
          <a:lstStyle/>
          <a:p>
            <a:pPr>
              <a:defRPr sz="1100">
                <a:solidFill>
                  <a:srgbClr val="94A3B8"/>
                </a:solidFill>
              </a:defRPr>
            </a:pPr>
            <a:r>
              <a:t>Designing for clinical trustworthiness: Platt probability calibration and automated abstention.</a:t>
            </a:r>
          </a:p>
        </p:txBody>
      </p:sp>
      <p:sp>
        <p:nvSpPr>
          <p:cNvPr id="8" name="Rounded Rectangle 7"/>
          <p:cNvSpPr/>
          <p:nvPr/>
        </p:nvSpPr>
        <p:spPr>
          <a:xfrm>
            <a:off x="731520" y="1691640"/>
            <a:ext cx="5212080" cy="2240280"/>
          </a:xfrm>
          <a:prstGeom prst="roundRect">
            <a:avLst/>
          </a:prstGeom>
          <a:solidFill>
            <a:srgbClr val="111827"/>
          </a:solidFill>
          <a:ln w="1270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874519"/>
            <a:ext cx="4663440" cy="1874519"/>
          </a:xfrm>
          <a:prstGeom prst="rect">
            <a:avLst/>
          </a:prstGeom>
          <a:noFill/>
        </p:spPr>
        <p:txBody>
          <a:bodyPr wrap="square">
            <a:spAutoFit/>
          </a:bodyPr>
          <a:lstStyle/>
          <a:p>
            <a:pPr>
              <a:defRPr sz="1100" b="1">
                <a:solidFill>
                  <a:srgbClr val="06B6D4"/>
                </a:solidFill>
              </a:defRPr>
            </a:pPr>
            <a:r>
              <a:t>1. ORIGINALITY: THE ABSTENTION GUARDRAIL</a:t>
            </a:r>
          </a:p>
          <a:p>
            <a:pPr>
              <a:defRPr sz="950">
                <a:solidFill>
                  <a:srgbClr val="94A3B8"/>
                </a:solidFill>
              </a:defRPr>
            </a:pPr>
            <a:r>
              <a:t>? Most healthcare AI models force an answer, even when wrong. ArogyaDristi enforces an explicit Abstention Contract: when classical ensemble models and the quantum VQC diverge by &gt;0.85, or inputs violate physiological ranges, the system refuses to output an arbitrary score.</a:t>
            </a:r>
          </a:p>
        </p:txBody>
      </p:sp>
      <p:sp>
        <p:nvSpPr>
          <p:cNvPr id="10" name="Rounded Rectangle 9"/>
          <p:cNvSpPr/>
          <p:nvPr/>
        </p:nvSpPr>
        <p:spPr>
          <a:xfrm>
            <a:off x="6248095" y="1691640"/>
            <a:ext cx="5212080" cy="2240280"/>
          </a:xfrm>
          <a:prstGeom prst="roundRect">
            <a:avLst/>
          </a:prstGeom>
          <a:solidFill>
            <a:srgbClr val="111827"/>
          </a:solidFill>
          <a:ln w="1270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22415" y="1874519"/>
            <a:ext cx="4663440" cy="1874519"/>
          </a:xfrm>
          <a:prstGeom prst="rect">
            <a:avLst/>
          </a:prstGeom>
          <a:noFill/>
        </p:spPr>
        <p:txBody>
          <a:bodyPr wrap="square">
            <a:spAutoFit/>
          </a:bodyPr>
          <a:lstStyle/>
          <a:p>
            <a:pPr>
              <a:defRPr sz="1100" b="1">
                <a:solidFill>
                  <a:srgbClr val="14B8A6"/>
                </a:solidFill>
              </a:defRPr>
            </a:pPr>
            <a:r>
              <a:t>2. HOW IT DIFFERS FROM EXISTING TOOLS</a:t>
            </a:r>
          </a:p>
          <a:p>
            <a:pPr>
              <a:defRPr sz="950">
                <a:solidFill>
                  <a:srgbClr val="94A3B8"/>
                </a:solidFill>
              </a:defRPr>
            </a:pPr>
            <a:r>
              <a:t>? Existing tools (e.g. Framingham, hospital EMR risk engines) rely on static regression or uncalibrated deep nets. ArogyaDristi evaluates both Euclidean feature spaces (classical) and Hilbert space quantum states (VQC), using cross-paradigm consensus to flag borderline cases.</a:t>
            </a:r>
          </a:p>
        </p:txBody>
      </p:sp>
      <p:sp>
        <p:nvSpPr>
          <p:cNvPr id="12" name="Rounded Rectangle 11"/>
          <p:cNvSpPr/>
          <p:nvPr/>
        </p:nvSpPr>
        <p:spPr>
          <a:xfrm>
            <a:off x="731520" y="4160520"/>
            <a:ext cx="5212080" cy="2240280"/>
          </a:xfrm>
          <a:prstGeom prst="roundRect">
            <a:avLst/>
          </a:prstGeom>
          <a:solidFill>
            <a:srgbClr val="111827"/>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4343400"/>
            <a:ext cx="4663440" cy="1874519"/>
          </a:xfrm>
          <a:prstGeom prst="rect">
            <a:avLst/>
          </a:prstGeom>
          <a:noFill/>
        </p:spPr>
        <p:txBody>
          <a:bodyPr wrap="square">
            <a:spAutoFit/>
          </a:bodyPr>
          <a:lstStyle/>
          <a:p>
            <a:pPr>
              <a:defRPr sz="1100" b="1">
                <a:solidFill>
                  <a:srgbClr val="10B981"/>
                </a:solidFill>
              </a:defRPr>
            </a:pPr>
            <a:r>
              <a:t>3. KEY TECHNICAL DECISION: ANGLE RY ENCODING</a:t>
            </a:r>
          </a:p>
          <a:p>
            <a:pPr>
              <a:defRPr sz="950">
                <a:solidFill>
                  <a:srgbClr val="94A3B8"/>
                </a:solidFill>
              </a:defRPr>
            </a:pPr>
            <a:r>
              <a:t>? Decision: Chose Angle RY rotation over Amplitude Encoding.</a:t>
            </a:r>
            <a:br/>
            <a:r>
              <a:t>? Why: Amplitude encoding requires deep state preparation circuits (O(2^n)) unsuitable for NISQ simulation. Angle encoding maps normalized biomarkers directly to rotation angles ? = ? ? x, maintaining direct physical explainability and constant depth O(1).</a:t>
            </a:r>
          </a:p>
        </p:txBody>
      </p:sp>
      <p:sp>
        <p:nvSpPr>
          <p:cNvPr id="14" name="Rounded Rectangle 13"/>
          <p:cNvSpPr/>
          <p:nvPr/>
        </p:nvSpPr>
        <p:spPr>
          <a:xfrm>
            <a:off x="6248095" y="4160520"/>
            <a:ext cx="5212080" cy="2240280"/>
          </a:xfrm>
          <a:prstGeom prst="roundRect">
            <a:avLst/>
          </a:prstGeom>
          <a:solidFill>
            <a:srgbClr val="111827"/>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22415" y="4343400"/>
            <a:ext cx="4663440" cy="1874519"/>
          </a:xfrm>
          <a:prstGeom prst="rect">
            <a:avLst/>
          </a:prstGeom>
          <a:noFill/>
        </p:spPr>
        <p:txBody>
          <a:bodyPr wrap="square">
            <a:spAutoFit/>
          </a:bodyPr>
          <a:lstStyle/>
          <a:p>
            <a:pPr>
              <a:defRPr sz="1100" b="1">
                <a:solidFill>
                  <a:srgbClr val="F59E0B"/>
                </a:solidFill>
              </a:defRPr>
            </a:pPr>
            <a:r>
              <a:t>4. CHALLENGE FACED &amp; OVERCOME</a:t>
            </a:r>
          </a:p>
          <a:p>
            <a:pPr>
              <a:defRPr sz="950">
                <a:solidFill>
                  <a:srgbClr val="94A3B8"/>
                </a:solidFill>
              </a:defRPr>
            </a:pPr>
            <a:r>
              <a:t>? Challenge: Classical models (XGBoost/RF) generate raw uncalibrated probabilities that diverged wildly from quantum expectation values, causing excessive false abstentions.</a:t>
            </a:r>
            <a:br/>
            <a:r>
              <a:t>? Solution: Implemented Platt probability scaling fitted strictly on the validation holdout split, guaranteeing calibrated risk probabilities without data leakage.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F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20040"/>
            <a:ext cx="10728655" cy="36576"/>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38912"/>
            <a:ext cx="6400800" cy="256032"/>
          </a:xfrm>
          <a:prstGeom prst="rect">
            <a:avLst/>
          </a:prstGeom>
          <a:noFill/>
        </p:spPr>
        <p:txBody>
          <a:bodyPr wrap="square">
            <a:spAutoFit/>
          </a:bodyPr>
          <a:lstStyle/>
          <a:p>
            <a:pPr>
              <a:defRPr sz="950" b="1">
                <a:solidFill>
                  <a:srgbClr val="06B6D4"/>
                </a:solidFill>
              </a:defRPr>
            </a:pPr>
            <a:r>
              <a:t>BUILD 2026 ? HEALTHCARE &amp; QUANTUM ML TRACK ? SLIDE 06 / 06</a:t>
            </a:r>
          </a:p>
        </p:txBody>
      </p:sp>
      <p:sp>
        <p:nvSpPr>
          <p:cNvPr id="5" name="TextBox 4"/>
          <p:cNvSpPr txBox="1"/>
          <p:nvPr/>
        </p:nvSpPr>
        <p:spPr>
          <a:xfrm>
            <a:off x="7772400" y="438912"/>
            <a:ext cx="3657600" cy="256032"/>
          </a:xfrm>
          <a:prstGeom prst="rect">
            <a:avLst/>
          </a:prstGeom>
          <a:noFill/>
        </p:spPr>
        <p:txBody>
          <a:bodyPr wrap="square">
            <a:spAutoFit/>
          </a:bodyPr>
          <a:lstStyle/>
          <a:p>
            <a:pPr algn="r">
              <a:defRPr sz="950" b="1">
                <a:solidFill>
                  <a:srgbClr val="14B8A6"/>
                </a:solidFill>
              </a:defRPr>
            </a:pPr>
            <a:r>
              <a:t>TEAM 404 ? EGREEN QUANTA</a:t>
            </a:r>
          </a:p>
        </p:txBody>
      </p:sp>
      <p:sp>
        <p:nvSpPr>
          <p:cNvPr id="6" name="TextBox 5"/>
          <p:cNvSpPr txBox="1"/>
          <p:nvPr/>
        </p:nvSpPr>
        <p:spPr>
          <a:xfrm>
            <a:off x="731520" y="658368"/>
            <a:ext cx="10728655" cy="594360"/>
          </a:xfrm>
          <a:prstGeom prst="rect">
            <a:avLst/>
          </a:prstGeom>
          <a:noFill/>
        </p:spPr>
        <p:txBody>
          <a:bodyPr wrap="square">
            <a:spAutoFit/>
          </a:bodyPr>
          <a:lstStyle/>
          <a:p>
            <a:pPr>
              <a:defRPr sz="2200" b="1">
                <a:solidFill>
                  <a:srgbClr val="FFFFFF"/>
                </a:solidFill>
              </a:defRPr>
            </a:pPr>
            <a:r>
              <a:t>Potential &amp; Real-World Road Ahead</a:t>
            </a:r>
          </a:p>
        </p:txBody>
      </p:sp>
      <p:sp>
        <p:nvSpPr>
          <p:cNvPr id="7" name="TextBox 6"/>
          <p:cNvSpPr txBox="1"/>
          <p:nvPr/>
        </p:nvSpPr>
        <p:spPr>
          <a:xfrm>
            <a:off x="731520" y="1207008"/>
            <a:ext cx="10728655" cy="320040"/>
          </a:xfrm>
          <a:prstGeom prst="rect">
            <a:avLst/>
          </a:prstGeom>
          <a:noFill/>
        </p:spPr>
        <p:txBody>
          <a:bodyPr wrap="square">
            <a:spAutoFit/>
          </a:bodyPr>
          <a:lstStyle/>
          <a:p>
            <a:pPr>
              <a:defRPr sz="1100">
                <a:solidFill>
                  <a:srgbClr val="94A3B8"/>
                </a:solidFill>
              </a:defRPr>
            </a:pPr>
            <a:r>
              <a:t>Scaling from hackathon prototype to clinical decision support at Primary Health Centres.</a:t>
            </a:r>
          </a:p>
        </p:txBody>
      </p:sp>
      <p:sp>
        <p:nvSpPr>
          <p:cNvPr id="8" name="Rounded Rectangle 7"/>
          <p:cNvSpPr/>
          <p:nvPr/>
        </p:nvSpPr>
        <p:spPr>
          <a:xfrm>
            <a:off x="731520" y="1691640"/>
            <a:ext cx="2496312" cy="4709160"/>
          </a:xfrm>
          <a:prstGeom prst="roundRect">
            <a:avLst/>
          </a:prstGeom>
          <a:solidFill>
            <a:srgbClr val="111827"/>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874519"/>
            <a:ext cx="2130552" cy="4297680"/>
          </a:xfrm>
          <a:prstGeom prst="rect">
            <a:avLst/>
          </a:prstGeom>
          <a:noFill/>
        </p:spPr>
        <p:txBody>
          <a:bodyPr wrap="square">
            <a:spAutoFit/>
          </a:bodyPr>
          <a:lstStyle/>
          <a:p>
            <a:pPr>
              <a:defRPr sz="1050" b="1">
                <a:solidFill>
                  <a:srgbClr val="06B6D4"/>
                </a:solidFill>
              </a:defRPr>
            </a:pPr>
            <a:r>
              <a:t>1. BEYOND THE HACKATHON</a:t>
            </a:r>
          </a:p>
          <a:p>
            <a:pPr>
              <a:defRPr sz="900" b="1">
                <a:solidFill>
                  <a:srgbClr val="FFFFFF"/>
                </a:solidFill>
              </a:defRPr>
            </a:pPr>
            <a:r>
              <a:t>? Primary Health Centres:</a:t>
            </a:r>
          </a:p>
          <a:p>
            <a:pPr>
              <a:defRPr sz="850">
                <a:solidFill>
                  <a:srgbClr val="94A3B8"/>
                </a:solidFill>
              </a:defRPr>
            </a:pPr>
            <a:r>
              <a:t>  Over 25,000 rural PHCs across India with limited specialist access.</a:t>
            </a:r>
          </a:p>
          <a:p>
            <a:pPr>
              <a:defRPr sz="900" b="1">
                <a:solidFill>
                  <a:srgbClr val="FFFFFF"/>
                </a:solidFill>
              </a:defRPr>
            </a:pPr>
            <a:r>
              <a:t>? Ayushman Bharat HWCs:</a:t>
            </a:r>
          </a:p>
          <a:p>
            <a:pPr>
              <a:defRPr sz="850">
                <a:solidFill>
                  <a:srgbClr val="94A3B8"/>
                </a:solidFill>
              </a:defRPr>
            </a:pPr>
            <a:r>
              <a:t>  150,000+ Health &amp; Wellness Centres conducting nationwide non-communicable disease (NCD) screening.</a:t>
            </a:r>
          </a:p>
          <a:p>
            <a:pPr>
              <a:defRPr sz="900" b="1">
                <a:solidFill>
                  <a:srgbClr val="FFFFFF"/>
                </a:solidFill>
              </a:defRPr>
            </a:pPr>
            <a:r>
              <a:t>? Preventive Health Networks:</a:t>
            </a:r>
          </a:p>
          <a:p>
            <a:pPr>
              <a:defRPr sz="850">
                <a:solidFill>
                  <a:srgbClr val="94A3B8"/>
                </a:solidFill>
              </a:defRPr>
            </a:pPr>
            <a:r>
              <a:t>  Corporate wellness checkup providers &amp; community camps.</a:t>
            </a:r>
          </a:p>
        </p:txBody>
      </p:sp>
      <p:sp>
        <p:nvSpPr>
          <p:cNvPr id="10" name="Rounded Rectangle 9"/>
          <p:cNvSpPr/>
          <p:nvPr/>
        </p:nvSpPr>
        <p:spPr>
          <a:xfrm>
            <a:off x="3474720" y="1691640"/>
            <a:ext cx="2496312" cy="4709160"/>
          </a:xfrm>
          <a:prstGeom prst="roundRect">
            <a:avLst/>
          </a:prstGeom>
          <a:solidFill>
            <a:srgbClr val="111827"/>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57600" y="1874519"/>
            <a:ext cx="2130552" cy="4297680"/>
          </a:xfrm>
          <a:prstGeom prst="rect">
            <a:avLst/>
          </a:prstGeom>
          <a:noFill/>
        </p:spPr>
        <p:txBody>
          <a:bodyPr wrap="square">
            <a:spAutoFit/>
          </a:bodyPr>
          <a:lstStyle/>
          <a:p>
            <a:pPr>
              <a:defRPr sz="1050" b="1">
                <a:solidFill>
                  <a:srgbClr val="14B8A6"/>
                </a:solidFill>
              </a:defRPr>
            </a:pPr>
            <a:r>
              <a:t>2. REAL VALUE DELIVERED</a:t>
            </a:r>
          </a:p>
          <a:p>
            <a:pPr>
              <a:defRPr sz="900" b="1">
                <a:solidFill>
                  <a:srgbClr val="FFFFFF"/>
                </a:solidFill>
              </a:defRPr>
            </a:pPr>
            <a:r>
              <a:t>? Ultra-Low Cost:</a:t>
            </a:r>
          </a:p>
          <a:p>
            <a:pPr>
              <a:defRPr sz="850">
                <a:solidFill>
                  <a:srgbClr val="94A3B8"/>
                </a:solidFill>
              </a:defRPr>
            </a:pPr>
            <a:r>
              <a:t>  Pre-symptomatic triage at &lt; ?20 per patient using standard non-invasive vitals &amp; routine labs.</a:t>
            </a:r>
          </a:p>
          <a:p>
            <a:pPr>
              <a:defRPr sz="900" b="1">
                <a:solidFill>
                  <a:srgbClr val="FFFFFF"/>
                </a:solidFill>
              </a:defRPr>
            </a:pPr>
            <a:r>
              <a:t>? Early Intervention:</a:t>
            </a:r>
          </a:p>
          <a:p>
            <a:pPr>
              <a:defRPr sz="850">
                <a:solidFill>
                  <a:srgbClr val="94A3B8"/>
                </a:solidFill>
              </a:defRPr>
            </a:pPr>
            <a:r>
              <a:t>  Detects cardiometabolic decline 2-3 years prior to irreversible microvascular damage.</a:t>
            </a:r>
          </a:p>
          <a:p>
            <a:pPr>
              <a:defRPr sz="900" b="1">
                <a:solidFill>
                  <a:srgbClr val="FFFFFF"/>
                </a:solidFill>
              </a:defRPr>
            </a:pPr>
            <a:r>
              <a:t>? Clinician Trust:</a:t>
            </a:r>
          </a:p>
          <a:p>
            <a:pPr>
              <a:defRPr sz="850">
                <a:solidFill>
                  <a:srgbClr val="94A3B8"/>
                </a:solidFill>
              </a:defRPr>
            </a:pPr>
            <a:r>
              <a:t>  Zero hallucinations: provides calibrated scores, model consensus, &amp; safety abstention.</a:t>
            </a:r>
          </a:p>
        </p:txBody>
      </p:sp>
      <p:sp>
        <p:nvSpPr>
          <p:cNvPr id="12" name="Rounded Rectangle 11"/>
          <p:cNvSpPr/>
          <p:nvPr/>
        </p:nvSpPr>
        <p:spPr>
          <a:xfrm>
            <a:off x="6217920" y="1691640"/>
            <a:ext cx="2496312" cy="4709160"/>
          </a:xfrm>
          <a:prstGeom prst="roundRect">
            <a:avLst/>
          </a:prstGeom>
          <a:solidFill>
            <a:srgbClr val="111827"/>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0" y="1874519"/>
            <a:ext cx="2130552" cy="4297680"/>
          </a:xfrm>
          <a:prstGeom prst="rect">
            <a:avLst/>
          </a:prstGeom>
          <a:noFill/>
        </p:spPr>
        <p:txBody>
          <a:bodyPr wrap="square">
            <a:spAutoFit/>
          </a:bodyPr>
          <a:lstStyle/>
          <a:p>
            <a:pPr>
              <a:defRPr sz="1050" b="1">
                <a:solidFill>
                  <a:srgbClr val="10B981"/>
                </a:solidFill>
              </a:defRPr>
            </a:pPr>
            <a:r>
              <a:t>3. WHAT WE'D BUILD NEXT</a:t>
            </a:r>
          </a:p>
          <a:p>
            <a:pPr>
              <a:defRPr sz="900" b="1">
                <a:solidFill>
                  <a:srgbClr val="FFFFFF"/>
                </a:solidFill>
              </a:defRPr>
            </a:pPr>
            <a:r>
              <a:t>? Hardware QPU Execution:</a:t>
            </a:r>
          </a:p>
          <a:p>
            <a:pPr>
              <a:defRPr sz="850">
                <a:solidFill>
                  <a:srgbClr val="94A3B8"/>
                </a:solidFill>
              </a:defRPr>
            </a:pPr>
            <a:r>
              <a:t>  Connect PennyLane Braket / Qiskit Runtime to physical cloud QPUs (e.g. IBM Heron) with Zero-Noise Extrapolation.</a:t>
            </a:r>
          </a:p>
          <a:p>
            <a:pPr>
              <a:defRPr sz="900" b="1">
                <a:solidFill>
                  <a:srgbClr val="FFFFFF"/>
                </a:solidFill>
              </a:defRPr>
            </a:pPr>
            <a:r>
              <a:t>? ABDM / FHIR Compliance:</a:t>
            </a:r>
          </a:p>
          <a:p>
            <a:pPr>
              <a:defRPr sz="850">
                <a:solidFill>
                  <a:srgbClr val="94A3B8"/>
                </a:solidFill>
              </a:defRPr>
            </a:pPr>
            <a:r>
              <a:t>  Standardize API payloads to Ayushman Bharat Digital Mission (ABDM) electronic health record standards.</a:t>
            </a:r>
          </a:p>
          <a:p>
            <a:pPr>
              <a:defRPr sz="900" b="1">
                <a:solidFill>
                  <a:srgbClr val="FFFFFF"/>
                </a:solidFill>
              </a:defRPr>
            </a:pPr>
            <a:r>
              <a:t>? Multi-Cohort Expansion:</a:t>
            </a:r>
          </a:p>
          <a:p>
            <a:pPr>
              <a:defRPr sz="850">
                <a:solidFill>
                  <a:srgbClr val="94A3B8"/>
                </a:solidFill>
              </a:defRPr>
            </a:pPr>
            <a:r>
              <a:t>  Train and recalibrate against multi-ethnic pan-Indian longitudinal cohorts.</a:t>
            </a:r>
          </a:p>
        </p:txBody>
      </p:sp>
      <p:sp>
        <p:nvSpPr>
          <p:cNvPr id="14" name="Rounded Rectangle 13"/>
          <p:cNvSpPr/>
          <p:nvPr/>
        </p:nvSpPr>
        <p:spPr>
          <a:xfrm>
            <a:off x="8961120" y="1691640"/>
            <a:ext cx="2496312" cy="4709160"/>
          </a:xfrm>
          <a:prstGeom prst="roundRect">
            <a:avLst/>
          </a:prstGeom>
          <a:solidFill>
            <a:srgbClr val="111827"/>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0" y="1874519"/>
            <a:ext cx="2130552" cy="4297680"/>
          </a:xfrm>
          <a:prstGeom prst="rect">
            <a:avLst/>
          </a:prstGeom>
          <a:noFill/>
        </p:spPr>
        <p:txBody>
          <a:bodyPr wrap="square">
            <a:spAutoFit/>
          </a:bodyPr>
          <a:lstStyle/>
          <a:p>
            <a:pPr>
              <a:defRPr sz="1050" b="1">
                <a:solidFill>
                  <a:srgbClr val="F59E0B"/>
                </a:solidFill>
              </a:defRPr>
            </a:pPr>
            <a:r>
              <a:t>4. PATH TO CLINICAL USE</a:t>
            </a:r>
          </a:p>
          <a:p>
            <a:pPr>
              <a:defRPr sz="900" b="1">
                <a:solidFill>
                  <a:srgbClr val="FFFFFF"/>
                </a:solidFill>
              </a:defRPr>
            </a:pPr>
            <a:r>
              <a:t>? Prospective Validation:</a:t>
            </a:r>
          </a:p>
          <a:p>
            <a:pPr>
              <a:defRPr sz="850">
                <a:solidFill>
                  <a:srgbClr val="94A3B8"/>
                </a:solidFill>
              </a:defRPr>
            </a:pPr>
            <a:r>
              <a:t>  Conduct IRB-approved prospective clinical trial comparing hybrid triage against gold-standard hospital diagnostics.</a:t>
            </a:r>
          </a:p>
          <a:p>
            <a:pPr>
              <a:defRPr sz="900" b="1">
                <a:solidFill>
                  <a:srgbClr val="FFFFFF"/>
                </a:solidFill>
              </a:defRPr>
            </a:pPr>
            <a:r>
              <a:t>? Regulatory SaMD:</a:t>
            </a:r>
          </a:p>
          <a:p>
            <a:pPr>
              <a:defRPr sz="850">
                <a:solidFill>
                  <a:srgbClr val="94A3B8"/>
                </a:solidFill>
              </a:defRPr>
            </a:pPr>
            <a:r>
              <a:t>  Prepare documentation for CDSCO / FDA Software-as-a-Medical-Device (SaMD) Class B certification.</a:t>
            </a:r>
          </a:p>
          <a:p>
            <a:pPr>
              <a:defRPr sz="900" b="1">
                <a:solidFill>
                  <a:srgbClr val="FFFFFF"/>
                </a:solidFill>
              </a:defRPr>
            </a:pPr>
            <a:r>
              <a:t>? Offline Edge Package:</a:t>
            </a:r>
          </a:p>
          <a:p>
            <a:pPr>
              <a:defRPr sz="850">
                <a:solidFill>
                  <a:srgbClr val="94A3B8"/>
                </a:solidFill>
              </a:defRPr>
            </a:pPr>
            <a:r>
              <a:t>  Deploy lightweight quantized container onto local PHC micro-servers with zero internet dependency.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